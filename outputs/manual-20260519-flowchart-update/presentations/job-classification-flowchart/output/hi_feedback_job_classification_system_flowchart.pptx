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9b541650049d3" /><Relationship Type="http://schemas.openxmlformats.org/officeDocument/2006/relationships/extended-properties" Target="/docProps/app.xml" Id="R14e77f31002d48ea" /><Relationship Type="http://schemas.openxmlformats.org/officeDocument/2006/relationships/officeDocument" Target="/ppt/presentation.xml" Id="R08286f78927d46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97bc86a014409"/>
  </p:sldMasterIdLst>
  <p:notesMasterIdLst>
    <p:notesMasterId xmlns:r="http://schemas.openxmlformats.org/officeDocument/2006/relationships" r:id="Rd33d0f02baf844a0"/>
  </p:notesMasterIdLst>
  <p:sldIdLst>
    <p:sldId xmlns:r="http://schemas.openxmlformats.org/officeDocument/2006/relationships" id="256" r:id="Rf930b32511e445f3"/>
    <p:sldId xmlns:r="http://schemas.openxmlformats.org/officeDocument/2006/relationships" id="257" r:id="R074b42fa1ccb4e04"/>
    <p:sldId xmlns:r="http://schemas.openxmlformats.org/officeDocument/2006/relationships" id="258" r:id="R2ede10198d9043d3"/>
    <p:sldId xmlns:r="http://schemas.openxmlformats.org/officeDocument/2006/relationships" id="259" r:id="R3f53d544f7344a03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97bc86a014409" /><Relationship Type="http://schemas.openxmlformats.org/officeDocument/2006/relationships/theme" Target="/ppt/theme/theme1.xml" Id="Rb488e749b79c4f9d" /><Relationship Type="http://schemas.openxmlformats.org/officeDocument/2006/relationships/notesMaster" Target="/ppt/notesMasters/notesMaster1.xml" Id="Rd33d0f02baf844a0" /><Relationship Type="http://schemas.openxmlformats.org/officeDocument/2006/relationships/presProps" Target="/ppt/presProps.xml" Id="R9635b06c0f3740cb" /><Relationship Type="http://schemas.openxmlformats.org/officeDocument/2006/relationships/viewProps" Target="/ppt/viewProps.xml" Id="R8de52cdac3f647d7" /><Relationship Type="http://schemas.openxmlformats.org/officeDocument/2006/relationships/tableStyles" Target="/ppt/tableStyles.xml" Id="R8e92333a5c8446cb" /><Relationship Type="http://schemas.openxmlformats.org/officeDocument/2006/relationships/slide" Target="/ppt/slides/slide1.xml" Id="Rf930b32511e445f3" /><Relationship Type="http://schemas.openxmlformats.org/officeDocument/2006/relationships/slide" Target="/ppt/slides/slide2.xml" Id="R074b42fa1ccb4e04" /><Relationship Type="http://schemas.openxmlformats.org/officeDocument/2006/relationships/slide" Target="/ppt/slides/slide3.xml" Id="R2ede10198d9043d3" /><Relationship Type="http://schemas.openxmlformats.org/officeDocument/2006/relationships/slide" Target="/ppt/slides/slide4.xml" Id="R3f53d544f7344a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1f311a36a8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E2E8F0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fd8897da6f46c5" /><Relationship Type="http://schemas.openxmlformats.org/officeDocument/2006/relationships/notesMaster" Target="/ppt/notesMasters/notesMaster1.xml" Id="R91762d5ed383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f20ac0caa4d36" /><Relationship Type="http://schemas.openxmlformats.org/officeDocument/2006/relationships/notesMaster" Target="/ppt/notesMasters/notesMaster1.xml" Id="Rbc73fa0a499e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e2b72a65b74918" /><Relationship Type="http://schemas.openxmlformats.org/officeDocument/2006/relationships/notesMaster" Target="/ppt/notesMasters/notesMaster1.xml" Id="Rc2d50e846fb842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bc3901c3b34746" /><Relationship Type="http://schemas.openxmlformats.org/officeDocument/2006/relationships/notesMaster" Target="/ppt/notesMasters/notesMaster1.xml" Id="R91a229121f5649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02b159c43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048f8a2af40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411035f6a41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6b086e6f144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c27a65e7544a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62132d244405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6968002a344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87bce184743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5b51a02be42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5f3e2aec642c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8f7ba09354835" /></Relationships>
</file>

<file path=ppt/slideLayouts/slideLayout2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6449D2-EC24-46CD-87DF-3897D466CE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265A09D-04E1-4752-BCDF-FC2D266D5E8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5A749F-6152-4C12-9592-792AE998BAB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6CCA56-DF2C-42E4-AD29-3A7D918B456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D7444-B317-4592-A8A2-484A30DC6E0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AF5B2B-900A-43BC-A54B-57EE0F07215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91AF2F-E1EF-4682-B515-F60D437ADFC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285C8-DA7E-4A08-B17A-C0B582ABD96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7D631B-2C37-42F3-97E5-B16BF342EC2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34C31F3-BCC9-48D3-A092-A4D6AB88C8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E9D5AB-6DFB-4911-AA32-18B4BC8067F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0AF532-457C-48F8-94E3-2C39A9DA538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ED5BE7-78E7-4DE6-ABFB-7CE7D3CFCD1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74A0B6-975C-4862-B334-D2ABCF90412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32B873-0675-4DE3-9ABE-B6FC7106AD6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CA3741-3604-4A9E-8163-6F7B8FFB2E8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E40A6AE-E6B7-4A42-99E3-86CFD047AE4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239DD9-BBA7-46AB-8FF4-A8EA7D31E08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1EB0C55-6441-405E-88AF-42AF155B21D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96EC20-B321-4DD8-B7DA-D8074E7F21B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296148-732E-486F-969B-059BFDD1014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C54636-7346-4A49-8CFF-705F8A84425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E9DB23-1396-4C31-9134-391E9D53B564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05F0C2-1B11-46BC-98EA-D7E80FECB4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85A4198-D2B1-4C45-8E07-AEECA05B3E48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158F65-78CE-4B7B-A01D-3D1546C578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D162D9D-65CB-48DA-82D9-55B153E8BAD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E2E1B7-1A1A-40C3-9EBB-8B99FE5E20AB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066977-259E-411F-8D9F-B50839B47052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BA8D19-FBFD-4432-A6D9-A52847BF3EB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BDAB35-95F6-43EE-BF9E-2D71F53FDA0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E069EF-782B-4BB7-A5FE-62E063ECCFD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6352C6-6A0A-4012-94FC-2CD6D26F498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C86C34-3A41-48EB-A4C3-4FBF809D408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0477FE-659A-4D54-99CD-0E6C79E7CFF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F7E745E-D930-44A5-8B72-F77EA0C0BA99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C24D26-2052-4FFE-8A8D-34863DC9CA7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F224A7-3869-40E8-A61C-624BF41C31D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80A7E16-AE66-4243-A45D-3DBA7AAA4D3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01137038c74459" /><Relationship Type="http://schemas.openxmlformats.org/officeDocument/2006/relationships/slideLayout" Target="/ppt/slideLayouts/slideLayout2.xml" Id="R736e7d97fdf842c4" /><Relationship Type="http://schemas.openxmlformats.org/officeDocument/2006/relationships/slideLayout" Target="/ppt/slideLayouts/slideLayout3.xml" Id="R105ff30176054d59" /><Relationship Type="http://schemas.openxmlformats.org/officeDocument/2006/relationships/slideLayout" Target="/ppt/slideLayouts/slideLayout4.xml" Id="R89947436c37a42a1" /><Relationship Type="http://schemas.openxmlformats.org/officeDocument/2006/relationships/slideLayout" Target="/ppt/slideLayouts/slideLayout5.xml" Id="Rf6c1f1b20b8e4654" /><Relationship Type="http://schemas.openxmlformats.org/officeDocument/2006/relationships/slideLayout" Target="/ppt/slideLayouts/slideLayout6.xml" Id="R2157e7e5e669476f" /><Relationship Type="http://schemas.openxmlformats.org/officeDocument/2006/relationships/slideLayout" Target="/ppt/slideLayouts/slideLayout7.xml" Id="Rced8141fccb744b7" /><Relationship Type="http://schemas.openxmlformats.org/officeDocument/2006/relationships/slideLayout" Target="/ppt/slideLayouts/slideLayout8.xml" Id="R6da30ecf0f394ab0" /><Relationship Type="http://schemas.openxmlformats.org/officeDocument/2006/relationships/slideLayout" Target="/ppt/slideLayouts/slideLayout9.xml" Id="R15a2c1851abc4c08" /><Relationship Type="http://schemas.openxmlformats.org/officeDocument/2006/relationships/slideLayout" Target="/ppt/slideLayouts/slideLayout10.xml" Id="R193b1d12d876450b" /><Relationship Type="http://schemas.openxmlformats.org/officeDocument/2006/relationships/slideLayout" Target="/ppt/slideLayouts/slideLayout11.xml" Id="R3e345aa49d6a492b" /><Relationship Type="http://schemas.openxmlformats.org/officeDocument/2006/relationships/slideLayout" Target="/ppt/slideLayouts/slideLayout12.xml" Id="R7caaa164860746a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3BA1EF6-0FE4-4E64-9282-6428F295FC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A85AFB-F309-463B-AE84-C04828FB8FE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B0FB1-9029-404D-BFCB-9DC375245F4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80D9F0-04A6-451D-8B4C-DAAF0264D342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71827A-59E1-4051-AD7A-A1A3E855469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e7d97fdf842c4"/>
    <p:sldLayoutId xmlns:r="http://schemas.openxmlformats.org/officeDocument/2006/relationships" id="2147483650" r:id="R105ff30176054d59"/>
    <p:sldLayoutId xmlns:r="http://schemas.openxmlformats.org/officeDocument/2006/relationships" id="2147483651" r:id="R89947436c37a42a1"/>
    <p:sldLayoutId xmlns:r="http://schemas.openxmlformats.org/officeDocument/2006/relationships" id="2147483652" r:id="Rf6c1f1b20b8e4654"/>
    <p:sldLayoutId xmlns:r="http://schemas.openxmlformats.org/officeDocument/2006/relationships" id="2147483653" r:id="R2157e7e5e669476f"/>
    <p:sldLayoutId xmlns:r="http://schemas.openxmlformats.org/officeDocument/2006/relationships" id="2147483654" r:id="Rced8141fccb744b7"/>
    <p:sldLayoutId xmlns:r="http://schemas.openxmlformats.org/officeDocument/2006/relationships" id="2147483655" r:id="R6da30ecf0f394ab0"/>
    <p:sldLayoutId xmlns:r="http://schemas.openxmlformats.org/officeDocument/2006/relationships" id="2147483656" r:id="R15a2c1851abc4c08"/>
    <p:sldLayoutId xmlns:r="http://schemas.openxmlformats.org/officeDocument/2006/relationships" id="2147483657" r:id="R193b1d12d876450b"/>
    <p:sldLayoutId xmlns:r="http://schemas.openxmlformats.org/officeDocument/2006/relationships" id="2147483658" r:id="R3e345aa49d6a492b"/>
    <p:sldLayoutId xmlns:r="http://schemas.openxmlformats.org/officeDocument/2006/relationships" id="2147483659" r:id="R7caaa164860746a3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1019937834a4d4a" /><Relationship Type="http://schemas.openxmlformats.org/officeDocument/2006/relationships/notesSlide" Target="/ppt/notesSlides/notesSlide1.xml" Id="R91639498d9a349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a4e66a964ce4f1d" /><Relationship Type="http://schemas.openxmlformats.org/officeDocument/2006/relationships/notesSlide" Target="/ppt/notesSlides/notesSlide2.xml" Id="R9007868f6f81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8bfa5c2d6fa41ed" /><Relationship Type="http://schemas.openxmlformats.org/officeDocument/2006/relationships/notesSlide" Target="/ppt/notesSlides/notesSlide3.xml" Id="R0a2278aabeae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94a4eabd03541e6" /><Relationship Type="http://schemas.openxmlformats.org/officeDocument/2006/relationships/notesSlide" Target="/ppt/notesSlides/notesSlide4.xml" Id="Rc388b9e20e3442c1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00" name="Badge">
            <a:extLst>
              <a:ext uri="{FF2B5EF4-FFF2-40B4-BE49-F238E27FC236}">
                <ns2:creationId id="{9860F38D-BB1D-4233-BE69-DAAB8F05BC87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524000" cy="406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1600" tIns="50800" rIns="1016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01  데이터 구조</a:t>
            </a:r>
          </a:p>
        </p:txBody>
      </p:sp>
      <p:sp>
        <p:nvSpPr>
          <p:cNvPr id="101" name="Title">
            <a:extLst>
              <a:ext uri="{FF2B5EF4-FFF2-40B4-BE49-F238E27FC236}">
                <ns2:creationId id="{3F535870-A38A-4328-9E4B-628DA3711450}"/>
              </a:ext>
            </a:extLst>
          </p:cNvPr>
          <p:cNvSpPr>
            <a:spLocks noGrp="1"/>
          </p:cNvSpPr>
          <p:nvPr/>
        </p:nvSpPr>
        <p:spPr>
          <a:xfrm>
            <a:off x="609600" y="1041400"/>
            <a:ext cx="13411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3200" b="1">
                <a:solidFill>
                  <a:srgbClr val="0F172A"/>
                </a:solidFill>
              </a:rPr>
              <a:t>입력 데이터와 최종 출력</a:t>
            </a:r>
          </a:p>
        </p:txBody>
      </p:sp>
      <p:sp>
        <p:nvSpPr>
          <p:cNvPr id="102" name="Subtitle">
            <a:extLst>
              <a:ext uri="{FF2B5EF4-FFF2-40B4-BE49-F238E27FC236}">
                <ns2:creationId id="{3AD675C9-858D-45C5-8BF0-A1EF092646FE}"/>
              </a:ext>
            </a:extLst>
          </p:cNvPr>
          <p:cNvSpPr>
            <a:spLocks noGrp="1"/>
          </p:cNvSpPr>
          <p:nvPr/>
        </p:nvSpPr>
        <p:spPr>
          <a:xfrm>
            <a:off x="609600" y="1803400"/>
            <a:ext cx="13411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500">
                <a:solidFill>
                  <a:srgbClr val="475569"/>
                </a:solidFill>
              </a:rPr>
              <a:t>HI-Feedback과 직무전문성 진단 근거를 묶고, 결과는 사내 직무 taxonomy 기준으로만 저장합니다.</a:t>
            </a:r>
          </a:p>
        </p:txBody>
      </p:sp>
      <p:sp>
        <p:nvSpPr>
          <p:cNvPr id="103" name="Card1">
            <a:extLst>
              <a:ext uri="{FF2B5EF4-FFF2-40B4-BE49-F238E27FC236}">
                <ns2:creationId id="{315B0850-CC62-47BD-B720-C001ACC56253}"/>
              </a:ext>
            </a:extLst>
          </p:cNvPr>
          <p:cNvSpPr>
            <a:spLocks noGrp="1"/>
          </p:cNvSpPr>
          <p:nvPr/>
        </p:nvSpPr>
        <p:spPr>
          <a:xfrm>
            <a:off x="609600" y="2489200"/>
            <a:ext cx="4267200" cy="279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04" name="Card1Bar">
            <a:extLst>
              <a:ext uri="{FF2B5EF4-FFF2-40B4-BE49-F238E27FC236}">
                <ns2:creationId id="{D19F39D3-9C3E-43C6-BF7D-186B0F00D352}"/>
              </a:ext>
            </a:extLst>
          </p:cNvPr>
          <p:cNvSpPr>
            <a:spLocks noGrp="1"/>
          </p:cNvSpPr>
          <p:nvPr/>
        </p:nvSpPr>
        <p:spPr>
          <a:xfrm>
            <a:off x="609600" y="2489200"/>
            <a:ext cx="426720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05" name="Card1Tag">
            <a:extLst>
              <a:ext uri="{FF2B5EF4-FFF2-40B4-BE49-F238E27FC236}">
                <ns2:creationId id="{365D6749-B7BE-4D97-AEA4-8D071A4EA992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762000" cy="30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입력 1</a:t>
            </a:r>
          </a:p>
        </p:txBody>
      </p:sp>
      <p:sp>
        <p:nvSpPr>
          <p:cNvPr id="106" name="Card1Title">
            <a:extLst>
              <a:ext uri="{FF2B5EF4-FFF2-40B4-BE49-F238E27FC236}">
                <ns2:creationId id="{E4800111-88C4-437F-98A5-736DEAAE37F1}"/>
              </a:ext>
            </a:extLst>
          </p:cNvPr>
          <p:cNvSpPr>
            <a:spLocks noGrp="1"/>
          </p:cNvSpPr>
          <p:nvPr/>
        </p:nvSpPr>
        <p:spPr>
          <a:xfrm>
            <a:off x="838200" y="31496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2000" b="1">
                <a:solidFill>
                  <a:srgbClr val="0F172A"/>
                </a:solidFill>
              </a:rPr>
              <a:t>HI-Feedback 셀프리뷰</a:t>
            </a:r>
          </a:p>
        </p:txBody>
      </p:sp>
      <p:sp>
        <p:nvSpPr>
          <p:cNvPr id="107" name="Card1Desc">
            <a:extLst>
              <a:ext uri="{FF2B5EF4-FFF2-40B4-BE49-F238E27FC236}">
                <ns2:creationId id="{25BF3561-8966-498D-80E1-81FB69B0184B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400">
                <a:solidFill>
                  <a:srgbClr val="64748B"/>
                </a:solidFill>
              </a:rPr>
              <a:t>구성원이 실제 수행했다고 작성한 업무 내용</a:t>
            </a:r>
          </a:p>
        </p:txBody>
      </p:sp>
      <p:sp>
        <p:nvSpPr>
          <p:cNvPr id="108" name="Card1List">
            <a:extLst>
              <a:ext uri="{FF2B5EF4-FFF2-40B4-BE49-F238E27FC236}">
                <ns2:creationId id="{1E6165AB-1734-495D-B8D3-BDDD4E63400F}"/>
              </a:ext>
            </a:extLst>
          </p:cNvPr>
          <p:cNvSpPr>
            <a:spLocks noGrp="1"/>
          </p:cNvSpPr>
          <p:nvPr/>
        </p:nvSpPr>
        <p:spPr>
          <a:xfrm>
            <a:off x="838200" y="398780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year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team (입력에는 존재, 기본 분류 판단에는 미사용)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emp_num / name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self_review</a:t>
            </a:r>
          </a:p>
        </p:txBody>
      </p:sp>
      <p:sp>
        <p:nvSpPr>
          <p:cNvPr id="109" name="Card2">
            <a:extLst>
              <a:ext uri="{FF2B5EF4-FFF2-40B4-BE49-F238E27FC236}">
                <ns2:creationId id="{7F007702-0CFC-4F03-8C70-AD35BD8C3329}"/>
              </a:ext>
            </a:extLst>
          </p:cNvPr>
          <p:cNvSpPr>
            <a:spLocks noGrp="1"/>
          </p:cNvSpPr>
          <p:nvPr/>
        </p:nvSpPr>
        <p:spPr>
          <a:xfrm>
            <a:off x="5181600" y="2489200"/>
            <a:ext cx="4267200" cy="279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0" name="Card2Bar">
            <a:extLst>
              <a:ext uri="{FF2B5EF4-FFF2-40B4-BE49-F238E27FC236}">
                <ns2:creationId id="{C2B9D3CB-570E-4882-AA51-411874030961}"/>
              </a:ext>
            </a:extLst>
          </p:cNvPr>
          <p:cNvSpPr>
            <a:spLocks noGrp="1"/>
          </p:cNvSpPr>
          <p:nvPr/>
        </p:nvSpPr>
        <p:spPr>
          <a:xfrm>
            <a:off x="5181600" y="2489200"/>
            <a:ext cx="42672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1" name="Card2Tag">
            <a:extLst>
              <a:ext uri="{FF2B5EF4-FFF2-40B4-BE49-F238E27FC236}">
                <ns2:creationId id="{55CE9F49-AE96-464F-AFA4-C43D65019921}"/>
              </a:ext>
            </a:extLst>
          </p:cNvPr>
          <p:cNvSpPr>
            <a:spLocks noGrp="1"/>
          </p:cNvSpPr>
          <p:nvPr/>
        </p:nvSpPr>
        <p:spPr>
          <a:xfrm>
            <a:off x="5410200" y="2743200"/>
            <a:ext cx="762000" cy="3048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047857"/>
                </a:solidFill>
              </a:rPr>
              <a:t>입력 2</a:t>
            </a:r>
          </a:p>
        </p:txBody>
      </p:sp>
      <p:sp>
        <p:nvSpPr>
          <p:cNvPr id="112" name="Card2Title">
            <a:extLst>
              <a:ext uri="{FF2B5EF4-FFF2-40B4-BE49-F238E27FC236}">
                <ns2:creationId id="{0CD0CC8A-0A7B-41DA-8745-CE12A59F8217}"/>
              </a:ext>
            </a:extLst>
          </p:cNvPr>
          <p:cNvSpPr>
            <a:spLocks noGrp="1"/>
          </p:cNvSpPr>
          <p:nvPr/>
        </p:nvSpPr>
        <p:spPr>
          <a:xfrm>
            <a:off x="5410200" y="31496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2000" b="1">
                <a:solidFill>
                  <a:srgbClr val="0F172A"/>
                </a:solidFill>
              </a:rPr>
              <a:t>직무전문성 진단</a:t>
            </a:r>
          </a:p>
        </p:txBody>
      </p:sp>
      <p:sp>
        <p:nvSpPr>
          <p:cNvPr id="113" name="Card2Desc">
            <a:extLst>
              <a:ext uri="{FF2B5EF4-FFF2-40B4-BE49-F238E27FC236}">
                <ns2:creationId id="{8B82541A-18CC-404C-B021-200A0F149E3B}"/>
              </a:ext>
            </a:extLst>
          </p:cNvPr>
          <p:cNvSpPr>
            <a:spLocks noGrp="1"/>
          </p:cNvSpPr>
          <p:nvPr/>
        </p:nvSpPr>
        <p:spPr>
          <a:xfrm>
            <a:off x="5410200" y="3581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400">
                <a:solidFill>
                  <a:srgbClr val="64748B"/>
                </a:solidFill>
              </a:rPr>
              <a:t>진단 당시 직무명·스킬셋을 보조 근거로 활용</a:t>
            </a:r>
          </a:p>
        </p:txBody>
      </p:sp>
      <p:sp>
        <p:nvSpPr>
          <p:cNvPr id="114" name="Card2List">
            <a:extLst>
              <a:ext uri="{FF2B5EF4-FFF2-40B4-BE49-F238E27FC236}">
                <ns2:creationId id="{45319AA2-47BA-42B6-AE99-262FCA7D5B72}"/>
              </a:ext>
            </a:extLst>
          </p:cNvPr>
          <p:cNvSpPr>
            <a:spLocks noGrp="1"/>
          </p:cNvSpPr>
          <p:nvPr/>
        </p:nvSpPr>
        <p:spPr>
          <a:xfrm>
            <a:off x="5410200" y="398780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team (예: DRAM공정 &gt; DPC)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진단 시 직무명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Category / 항목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year + emp_num 매칭</a:t>
            </a:r>
          </a:p>
        </p:txBody>
      </p:sp>
      <p:sp>
        <p:nvSpPr>
          <p:cNvPr id="115" name="Card3">
            <a:extLst>
              <a:ext uri="{FF2B5EF4-FFF2-40B4-BE49-F238E27FC236}">
                <ns2:creationId id="{9905AFE3-4E5C-44A6-B2EF-6A2FEEC36E72}"/>
              </a:ext>
            </a:extLst>
          </p:cNvPr>
          <p:cNvSpPr>
            <a:spLocks noGrp="1"/>
          </p:cNvSpPr>
          <p:nvPr/>
        </p:nvSpPr>
        <p:spPr>
          <a:xfrm>
            <a:off x="9753600" y="2489200"/>
            <a:ext cx="4267200" cy="279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6" name="Card3Bar">
            <a:extLst>
              <a:ext uri="{FF2B5EF4-FFF2-40B4-BE49-F238E27FC236}">
                <ns2:creationId id="{7C128934-6E8F-483A-8245-2778D8B0895B}"/>
              </a:ext>
            </a:extLst>
          </p:cNvPr>
          <p:cNvSpPr>
            <a:spLocks noGrp="1"/>
          </p:cNvSpPr>
          <p:nvPr/>
        </p:nvSpPr>
        <p:spPr>
          <a:xfrm>
            <a:off x="9753600" y="2489200"/>
            <a:ext cx="426720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7" name="Card3Tag">
            <a:extLst>
              <a:ext uri="{FF2B5EF4-FFF2-40B4-BE49-F238E27FC236}">
                <ns2:creationId id="{367E23B9-A8AE-4E3C-8D06-7EF66EE6862C}"/>
              </a:ext>
            </a:extLst>
          </p:cNvPr>
          <p:cNvSpPr>
            <a:spLocks noGrp="1"/>
          </p:cNvSpPr>
          <p:nvPr/>
        </p:nvSpPr>
        <p:spPr>
          <a:xfrm>
            <a:off x="9982200" y="2743200"/>
            <a:ext cx="762000" cy="304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6D28D9"/>
                </a:solidFill>
              </a:rPr>
              <a:t>후보</a:t>
            </a:r>
          </a:p>
        </p:txBody>
      </p:sp>
      <p:sp>
        <p:nvSpPr>
          <p:cNvPr id="118" name="Card3Title">
            <a:extLst>
              <a:ext uri="{FF2B5EF4-FFF2-40B4-BE49-F238E27FC236}">
                <ns2:creationId id="{F1D82334-7B44-4624-8716-9716F95EAF48}"/>
              </a:ext>
            </a:extLst>
          </p:cNvPr>
          <p:cNvSpPr>
            <a:spLocks noGrp="1"/>
          </p:cNvSpPr>
          <p:nvPr/>
        </p:nvSpPr>
        <p:spPr>
          <a:xfrm>
            <a:off x="9982200" y="31496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2000" b="1">
                <a:solidFill>
                  <a:srgbClr val="0F172A"/>
                </a:solidFill>
              </a:rPr>
              <a:t>사내 직무 taxonomy</a:t>
            </a:r>
          </a:p>
        </p:txBody>
      </p:sp>
      <p:sp>
        <p:nvSpPr>
          <p:cNvPr id="119" name="Card3Desc">
            <a:extLst>
              <a:ext uri="{FF2B5EF4-FFF2-40B4-BE49-F238E27FC236}">
                <ns2:creationId id="{4E9A6D9A-002D-44F6-A82B-E8DDC8071DE3}"/>
              </a:ext>
            </a:extLst>
          </p:cNvPr>
          <p:cNvSpPr>
            <a:spLocks noGrp="1"/>
          </p:cNvSpPr>
          <p:nvPr/>
        </p:nvSpPr>
        <p:spPr>
          <a:xfrm>
            <a:off x="9982200" y="3581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400">
                <a:solidFill>
                  <a:srgbClr val="64748B"/>
                </a:solidFill>
              </a:rPr>
              <a:t>LLM이 선택할 수 있는 정답 후보 목록</a:t>
            </a:r>
          </a:p>
        </p:txBody>
      </p:sp>
      <p:sp>
        <p:nvSpPr>
          <p:cNvPr id="120" name="Card3List">
            <a:extLst>
              <a:ext uri="{FF2B5EF4-FFF2-40B4-BE49-F238E27FC236}">
                <ns2:creationId id="{2E0CDF57-7FAB-4459-AC29-EDE39A1D7BDE}"/>
              </a:ext>
            </a:extLst>
          </p:cNvPr>
          <p:cNvSpPr>
            <a:spLocks noGrp="1"/>
          </p:cNvSpPr>
          <p:nvPr/>
        </p:nvSpPr>
        <p:spPr>
          <a:xfrm>
            <a:off x="9982200" y="398780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중직무 / 소직무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Device / 단위 직무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세부 직무1 / 세부 직무2</a:t>
            </a:r>
          </a:p>
        </p:txBody>
      </p:sp>
      <p:sp>
        <p:nvSpPr>
          <p:cNvPr id="121" name="OutputPanel">
            <a:extLst>
              <a:ext uri="{FF2B5EF4-FFF2-40B4-BE49-F238E27FC236}">
                <ns2:creationId id="{0FD8982F-5962-48AE-BDDF-CC3565AD9A1E}"/>
              </a:ext>
            </a:extLst>
          </p:cNvPr>
          <p:cNvSpPr>
            <a:spLocks noGrp="1"/>
          </p:cNvSpPr>
          <p:nvPr/>
        </p:nvSpPr>
        <p:spPr>
          <a:xfrm>
            <a:off x="609600" y="5537200"/>
            <a:ext cx="134112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22" name="OutTag">
            <a:extLst>
              <a:ext uri="{FF2B5EF4-FFF2-40B4-BE49-F238E27FC236}">
                <ns2:creationId id="{99692E2D-D0D5-45A0-9A15-E4C69D38C81D}"/>
              </a:ext>
            </a:extLst>
          </p:cNvPr>
          <p:cNvSpPr>
            <a:spLocks noGrp="1"/>
          </p:cNvSpPr>
          <p:nvPr/>
        </p:nvSpPr>
        <p:spPr>
          <a:xfrm>
            <a:off x="863600" y="5765800"/>
            <a:ext cx="1397000" cy="3302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047857"/>
                </a:solidFill>
              </a:rPr>
              <a:t>최종 출력 CSV</a:t>
            </a:r>
          </a:p>
        </p:txBody>
      </p:sp>
      <p:sp>
        <p:nvSpPr>
          <p:cNvPr id="123" name="OutTitle">
            <a:extLst>
              <a:ext uri="{FF2B5EF4-FFF2-40B4-BE49-F238E27FC236}">
                <ns2:creationId id="{9BE89FE7-BB34-4A23-A227-CE2793C682AE}"/>
              </a:ext>
            </a:extLst>
          </p:cNvPr>
          <p:cNvSpPr>
            <a:spLocks noGrp="1"/>
          </p:cNvSpPr>
          <p:nvPr/>
        </p:nvSpPr>
        <p:spPr>
          <a:xfrm>
            <a:off x="863600" y="61722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800" b="1">
                <a:solidFill>
                  <a:srgbClr val="0F172A"/>
                </a:solidFill>
              </a:rPr>
              <a:t>LLM이 추가/생성하는 데이터</a:t>
            </a:r>
          </a:p>
        </p:txBody>
      </p:sp>
      <p:sp>
        <p:nvSpPr>
          <p:cNvPr id="124" name="Sub0">
            <a:extLst>
              <a:ext uri="{FF2B5EF4-FFF2-40B4-BE49-F238E27FC236}">
                <ns2:creationId id="{FF0221D4-7025-40E9-9071-B32E898BF3B9}"/>
              </a:ext>
            </a:extLst>
          </p:cNvPr>
          <p:cNvSpPr>
            <a:spLocks noGrp="1"/>
          </p:cNvSpPr>
          <p:nvPr/>
        </p:nvSpPr>
        <p:spPr>
          <a:xfrm>
            <a:off x="863600" y="6591300"/>
            <a:ext cx="4216400" cy="8763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52400" tIns="101600" rIns="152400" bIns="101600" anchor="t"/>
          <a:lstStyle/>
          <a:p>
            <a:pPr>
              <a:buNone/>
            </a:pPr>
            <a:r>
              <a:rPr sz="1400" b="1">
                <a:solidFill>
                  <a:srgbClr val="0F172A"/>
                </a:solidFill>
              </a:rPr>
              <a:t>분류 결과</a:t>
            </a:r>
          </a:p>
          <a:p>
            <a:pPr>
              <a:spcBef>
                <a:spcPts val="200"/>
              </a:spcBef>
              <a:buNone/>
            </a:pPr>
            <a:r>
              <a:rPr sz="1200">
                <a:solidFill>
                  <a:srgbClr val="64748B"/>
                </a:solidFill>
              </a:rPr>
              <a:t>중직무, 소직무 · Device, 단위 직무 · 세부 직무1, 세부 직무2</a:t>
            </a:r>
          </a:p>
        </p:txBody>
      </p:sp>
      <p:sp>
        <p:nvSpPr>
          <p:cNvPr id="125" name="Sub1">
            <a:extLst>
              <a:ext uri="{FF2B5EF4-FFF2-40B4-BE49-F238E27FC236}">
                <ns2:creationId id="{43525AF7-2515-435C-939F-6B3DEF8742C2}"/>
              </a:ext>
            </a:extLst>
          </p:cNvPr>
          <p:cNvSpPr>
            <a:spLocks noGrp="1"/>
          </p:cNvSpPr>
          <p:nvPr/>
        </p:nvSpPr>
        <p:spPr>
          <a:xfrm>
            <a:off x="5232400" y="6591300"/>
            <a:ext cx="4216400" cy="8763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27000" tIns="50800" rIns="127000" bIns="50800" anchor="t"/>
          <a:lstStyle/>
          <a:p>
            <a:pPr>
              <a:buNone/>
            </a:pPr>
            <a:r>
              <a:rPr sz="1100" b="1">
                <a:solidFill>
                  <a:srgbClr val="0F172A"/>
                </a:solidFill>
              </a:rPr>
              <a:t>검수 판단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needs_review: </a:t>
            </a:r>
            <a:r>
              <a:rPr sz="900">
                <a:solidFill>
                  <a:srgbClr val="64748B"/>
                </a:solidFill>
              </a:rPr>
              <a:t>True면 사람 검수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confidence: </a:t>
            </a:r>
            <a:r>
              <a:rPr sz="900">
                <a:solidFill>
                  <a:srgbClr val="64748B"/>
                </a:solidFill>
              </a:rPr>
              <a:t>확신도 0~1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ambiguity_reason: </a:t>
            </a:r>
            <a:r>
              <a:rPr sz="900">
                <a:solidFill>
                  <a:srgbClr val="64748B"/>
                </a:solidFill>
              </a:rPr>
              <a:t>중복·충돌 사유</a:t>
            </a:r>
          </a:p>
        </p:txBody>
      </p:sp>
      <p:sp>
        <p:nvSpPr>
          <p:cNvPr id="126" name="Sub2">
            <a:extLst>
              <a:ext uri="{FF2B5EF4-FFF2-40B4-BE49-F238E27FC236}">
                <ns2:creationId id="{23D85CEC-399F-41E1-AEEF-29B7FCE91EA7}"/>
              </a:ext>
            </a:extLst>
          </p:cNvPr>
          <p:cNvSpPr>
            <a:spLocks noGrp="1"/>
          </p:cNvSpPr>
          <p:nvPr/>
        </p:nvSpPr>
        <p:spPr>
          <a:xfrm>
            <a:off x="9601200" y="6591300"/>
            <a:ext cx="4216400" cy="8763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27000" tIns="50800" rIns="127000" bIns="50800" anchor="t"/>
          <a:lstStyle/>
          <a:p>
            <a:pPr>
              <a:buNone/>
            </a:pPr>
            <a:r>
              <a:rPr sz="1100" b="1">
                <a:solidFill>
                  <a:srgbClr val="0F172A"/>
                </a:solidFill>
              </a:rPr>
              <a:t>설명 근거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reason: </a:t>
            </a:r>
            <a:r>
              <a:rPr sz="900">
                <a:solidFill>
                  <a:srgbClr val="64748B"/>
                </a:solidFill>
              </a:rPr>
              <a:t>LLM 선택 근거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guardrail_reason: </a:t>
            </a:r>
            <a:r>
              <a:rPr sz="900">
                <a:solidFill>
                  <a:srgbClr val="64748B"/>
                </a:solidFill>
              </a:rPr>
              <a:t>보정·차단 사유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diagnosis_*: </a:t>
            </a:r>
            <a:r>
              <a:rPr sz="900">
                <a:solidFill>
                  <a:srgbClr val="64748B"/>
                </a:solidFill>
              </a:rPr>
              <a:t>진단 근거 요약</a:t>
            </a:r>
          </a:p>
        </p:txBody>
      </p:sp>
      <p:sp>
        <p:nvSpPr>
          <p:cNvPr id="127" name="PrivacyBar">
            <a:extLst>
              <a:ext uri="{FF2B5EF4-FFF2-40B4-BE49-F238E27FC236}">
                <ns2:creationId id="{567530C1-BAE4-40EB-BCA6-66C14C3F69F9}"/>
              </a:ext>
            </a:extLst>
          </p:cNvPr>
          <p:cNvSpPr>
            <a:spLocks noGrp="1"/>
          </p:cNvSpPr>
          <p:nvPr/>
        </p:nvSpPr>
        <p:spPr>
          <a:xfrm>
            <a:off x="609600" y="7686675"/>
            <a:ext cx="13411200" cy="3048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28" name="PrivacyTag">
            <a:extLst>
              <a:ext uri="{FF2B5EF4-FFF2-40B4-BE49-F238E27FC236}">
                <ns2:creationId id="{08B9CECB-A5A5-4C7E-AB6B-0C6E2E6C0C09}"/>
              </a:ext>
            </a:extLst>
          </p:cNvPr>
          <p:cNvSpPr>
            <a:spLocks noGrp="1"/>
          </p:cNvSpPr>
          <p:nvPr/>
        </p:nvSpPr>
        <p:spPr>
          <a:xfrm>
            <a:off x="863600" y="7753350"/>
            <a:ext cx="1651000" cy="228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개인정보 사용 원칙</a:t>
            </a:r>
          </a:p>
        </p:txBody>
      </p:sp>
      <p:sp>
        <p:nvSpPr>
          <p:cNvPr id="129" name="PrivacyText">
            <a:extLst>
              <a:ext uri="{FF2B5EF4-FFF2-40B4-BE49-F238E27FC236}">
                <ns2:creationId id="{B73E9B91-D9E0-4E95-881C-A29E8E8EB939}"/>
              </a:ext>
            </a:extLst>
          </p:cNvPr>
          <p:cNvSpPr>
            <a:spLocks noGrp="1"/>
          </p:cNvSpPr>
          <p:nvPr/>
        </p:nvSpPr>
        <p:spPr>
          <a:xfrm>
            <a:off x="2667000" y="77533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sz="1300">
                <a:solidFill>
                  <a:srgbClr val="1E3A8A"/>
                </a:solidFill>
              </a:rPr>
              <a:t>emp_num과 name은 입력·출력 재매칭용으로만 사용하고, LLM 판단 입력에서는 제외</a:t>
            </a:r>
          </a:p>
        </p:txBody>
      </p:sp>
      <p:sp>
        <p:nvSpPr>
          <p:cNvPr id="130" name="FooterLeft">
            <a:extLst>
              <a:ext uri="{FF2B5EF4-FFF2-40B4-BE49-F238E27FC236}">
                <ns2:creationId id="{3EFE9CE0-D26C-4364-89FD-22BAA573725E}"/>
              </a:ext>
            </a:extLst>
          </p:cNvPr>
          <p:cNvSpPr>
            <a:spLocks noGrp="1"/>
          </p:cNvSpPr>
          <p:nvPr/>
        </p:nvSpPr>
        <p:spPr>
          <a:xfrm>
            <a:off x="609600" y="8018625"/>
            <a:ext cx="2540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100">
                <a:solidFill>
                  <a:srgbClr val="94A3B8"/>
                </a:solidFill>
              </a:rPr>
              <a:t>데이터 구조</a:t>
            </a:r>
          </a:p>
        </p:txBody>
      </p:sp>
      <p:sp>
        <p:nvSpPr>
          <p:cNvPr id="131" name="FooterRight">
            <a:extLst>
              <a:ext uri="{FF2B5EF4-FFF2-40B4-BE49-F238E27FC236}">
                <ns2:creationId id="{3EAFB4C6-30AC-4865-A6B4-64CCE475E208}"/>
              </a:ext>
            </a:extLst>
          </p:cNvPr>
          <p:cNvSpPr>
            <a:spLocks noGrp="1"/>
          </p:cNvSpPr>
          <p:nvPr/>
        </p:nvSpPr>
        <p:spPr>
          <a:xfrm>
            <a:off x="13208000" y="8018625"/>
            <a:ext cx="812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sz="1100">
                <a:solidFill>
                  <a:srgbClr val="94A3B8"/>
                </a:solidFill>
              </a:rPr>
              <a:t>1/4</a:t>
            </a:r>
          </a:p>
        </p:txBody>
      </p:sp>
    </p:spTree>
    <p:extLst>
      <p:ext uri="{BB962C8B-B14F-4D97-AF65-F5344CB8AC3E}">
        <ns3:creationId val="1879421581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00" name="Badge">
            <a:extLst>
              <a:ext uri="{FF2B5EF4-FFF2-40B4-BE49-F238E27FC236}">
                <ns2:creationId id="{21F310B2-07D4-4600-842B-822D6D019B3E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524000" cy="406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1600" tIns="50800" rIns="1016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02  처리 흐름</a:t>
            </a:r>
          </a:p>
        </p:txBody>
      </p:sp>
      <p:sp>
        <p:nvSpPr>
          <p:cNvPr id="101" name="Title">
            <a:extLst>
              <a:ext uri="{FF2B5EF4-FFF2-40B4-BE49-F238E27FC236}">
                <ns2:creationId id="{32E9A019-391E-456C-8100-970FFCF61CF8}"/>
              </a:ext>
            </a:extLst>
          </p:cNvPr>
          <p:cNvSpPr>
            <a:spLocks noGrp="1"/>
          </p:cNvSpPr>
          <p:nvPr/>
        </p:nvSpPr>
        <p:spPr>
          <a:xfrm>
            <a:off x="609600" y="1041400"/>
            <a:ext cx="13411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2700" b="1">
                <a:solidFill>
                  <a:srgbClr val="0F172A"/>
                </a:solidFill>
              </a:rPr>
              <a:t>실제 동작: 캐시 분기, LLM 2회 호출, 코드 검증/보정</a:t>
            </a:r>
          </a:p>
        </p:txBody>
      </p:sp>
      <p:sp>
        <p:nvSpPr>
          <p:cNvPr id="102" name="Subtitle">
            <a:extLst>
              <a:ext uri="{FF2B5EF4-FFF2-40B4-BE49-F238E27FC236}">
                <ns2:creationId id="{7C69058A-0ED3-43C9-9F1D-ADD85B14C42E}"/>
              </a:ext>
            </a:extLst>
          </p:cNvPr>
          <p:cNvSpPr>
            <a:spLocks noGrp="1"/>
          </p:cNvSpPr>
          <p:nvPr/>
        </p:nvSpPr>
        <p:spPr>
          <a:xfrm>
            <a:off x="609600" y="1803400"/>
            <a:ext cx="13411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>
                <a:solidFill>
                  <a:srgbClr val="475569"/>
                </a:solidFill>
              </a:rPr>
              <a:t>row 1개 기준으로 cache miss일 때 Stage 1/2 LLM을 호출하고, 최종 확정은 taxonomy 검증과 guardrail이 담당합니다.</a:t>
            </a:r>
          </a:p>
        </p:txBody>
      </p:sp>
      <p:sp>
        <p:nvSpPr>
          <p:cNvPr id="103" name="Step1">
            <a:extLst>
              <a:ext uri="{FF2B5EF4-FFF2-40B4-BE49-F238E27FC236}">
                <ns2:creationId id="{1E332E3D-A508-43C1-B80F-7FF394B66A0A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85750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04" name="Step1Num">
            <a:extLst>
              <a:ext uri="{FF2B5EF4-FFF2-40B4-BE49-F238E27FC236}">
                <ns2:creationId id="{0E3A3F92-8CFC-41E4-8843-F33447DF84C0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400050" cy="40005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1D4ED8"/>
                </a:solidFill>
              </a:rPr>
              <a:t>1</a:t>
            </a:r>
          </a:p>
        </p:txBody>
      </p:sp>
      <p:sp>
        <p:nvSpPr>
          <p:cNvPr id="105" name="Step1Title">
            <a:extLst>
              <a:ext uri="{FF2B5EF4-FFF2-40B4-BE49-F238E27FC236}">
                <ns2:creationId id="{963D76C7-124E-4454-8A00-85059A8B21B6}"/>
              </a:ext>
            </a:extLst>
          </p:cNvPr>
          <p:cNvSpPr>
            <a:spLocks noGrp="1"/>
          </p:cNvSpPr>
          <p:nvPr/>
        </p:nvSpPr>
        <p:spPr>
          <a:xfrm>
            <a:off x="1276350" y="255270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입력 근거 구성</a:t>
            </a:r>
          </a:p>
        </p:txBody>
      </p:sp>
      <p:sp>
        <p:nvSpPr>
          <p:cNvPr id="106" name="Step1Body">
            <a:extLst>
              <a:ext uri="{FF2B5EF4-FFF2-40B4-BE49-F238E27FC236}">
                <ns2:creationId id="{D25E434F-283E-49AA-B69A-6CB8CE156206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950">
                <a:solidFill>
                  <a:srgbClr val="64748B"/>
                </a:solidFill>
              </a:rPr>
              <a:t>self_review + diagnosis</a:t>
            </a:r>
          </a:p>
          <a:p>
            <a:pPr>
              <a:spcBef>
                <a:spcPts val="80"/>
              </a:spcBef>
              <a:buNone/>
            </a:pPr>
            <a:r>
              <a:rPr sz="950">
                <a:solidFill>
                  <a:srgbClr val="64748B"/>
                </a:solidFill>
              </a:rPr>
              <a:t>EvidenceTerm hints</a:t>
            </a:r>
          </a:p>
        </p:txBody>
      </p:sp>
      <p:sp>
        <p:nvSpPr>
          <p:cNvPr id="107" name="Step2">
            <a:extLst>
              <a:ext uri="{FF2B5EF4-FFF2-40B4-BE49-F238E27FC236}">
                <ns2:creationId id="{B5601A21-1968-4860-AB64-2232EB7AA581}"/>
              </a:ext>
            </a:extLst>
          </p:cNvPr>
          <p:cNvSpPr>
            <a:spLocks noGrp="1"/>
          </p:cNvSpPr>
          <p:nvPr/>
        </p:nvSpPr>
        <p:spPr>
          <a:xfrm>
            <a:off x="3810000" y="2381250"/>
            <a:ext cx="285750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08" name="Step2Num">
            <a:extLst>
              <a:ext uri="{FF2B5EF4-FFF2-40B4-BE49-F238E27FC236}">
                <ns2:creationId id="{9438E2F1-6CEF-43A7-AB11-2F41E2A882E1}"/>
              </a:ext>
            </a:extLst>
          </p:cNvPr>
          <p:cNvSpPr>
            <a:spLocks noGrp="1"/>
          </p:cNvSpPr>
          <p:nvPr/>
        </p:nvSpPr>
        <p:spPr>
          <a:xfrm>
            <a:off x="3981450" y="2552700"/>
            <a:ext cx="400050" cy="40005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109" name="Step2Title">
            <a:extLst>
              <a:ext uri="{FF2B5EF4-FFF2-40B4-BE49-F238E27FC236}">
                <ns2:creationId id="{E3C5A8B0-84AF-40BB-9D0A-A21EBDB69C0C}"/>
              </a:ext>
            </a:extLst>
          </p:cNvPr>
          <p:cNvSpPr>
            <a:spLocks noGrp="1"/>
          </p:cNvSpPr>
          <p:nvPr/>
        </p:nvSpPr>
        <p:spPr>
          <a:xfrm>
            <a:off x="4476750" y="255270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캐시 게이트</a:t>
            </a:r>
          </a:p>
        </p:txBody>
      </p:sp>
      <p:sp>
        <p:nvSpPr>
          <p:cNvPr id="110" name="Step2Body">
            <a:extLst>
              <a:ext uri="{FF2B5EF4-FFF2-40B4-BE49-F238E27FC236}">
                <ns2:creationId id="{BC9A6494-BE98-4D7D-B993-C7DCB7CC0451}"/>
              </a:ext>
            </a:extLst>
          </p:cNvPr>
          <p:cNvSpPr>
            <a:spLocks noGrp="1"/>
          </p:cNvSpPr>
          <p:nvPr/>
        </p:nvSpPr>
        <p:spPr>
          <a:xfrm>
            <a:off x="4038600" y="29718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950">
                <a:solidFill>
                  <a:srgbClr val="64748B"/>
                </a:solidFill>
              </a:rPr>
              <a:t>hit: LLM 0회</a:t>
            </a:r>
          </a:p>
          <a:p>
            <a:pPr>
              <a:spcBef>
                <a:spcPts val="80"/>
              </a:spcBef>
              <a:buNone/>
            </a:pPr>
            <a:r>
              <a:rPr sz="950">
                <a:solidFill>
                  <a:srgbClr val="64748B"/>
                </a:solidFill>
              </a:rPr>
              <a:t>miss: 분류 진행</a:t>
            </a:r>
          </a:p>
        </p:txBody>
      </p:sp>
      <p:sp>
        <p:nvSpPr>
          <p:cNvPr id="111" name="Step3">
            <a:extLst>
              <a:ext uri="{FF2B5EF4-FFF2-40B4-BE49-F238E27FC236}">
                <ns2:creationId id="{2ED25B19-785B-442C-AA4A-CC378B3F020F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285750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2" name="Step3Num">
            <a:extLst>
              <a:ext uri="{FF2B5EF4-FFF2-40B4-BE49-F238E27FC236}">
                <ns2:creationId id="{9D92E476-3DD5-4B99-B00A-E90F74701684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400050" cy="40005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6D28D9"/>
                </a:solidFill>
              </a:rPr>
              <a:t>3</a:t>
            </a:r>
          </a:p>
        </p:txBody>
      </p:sp>
      <p:sp>
        <p:nvSpPr>
          <p:cNvPr id="113" name="Step3Title">
            <a:extLst>
              <a:ext uri="{FF2B5EF4-FFF2-40B4-BE49-F238E27FC236}">
                <ns2:creationId id="{3C81BDA7-81BD-460A-96B7-6C6D8CF34A9D}"/>
              </a:ext>
            </a:extLst>
          </p:cNvPr>
          <p:cNvSpPr>
            <a:spLocks noGrp="1"/>
          </p:cNvSpPr>
          <p:nvPr/>
        </p:nvSpPr>
        <p:spPr>
          <a:xfrm>
            <a:off x="1276350" y="4124325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LLM 1차 호출</a:t>
            </a:r>
          </a:p>
        </p:txBody>
      </p:sp>
      <p:sp>
        <p:nvSpPr>
          <p:cNvPr id="114" name="Step3Body">
            <a:extLst>
              <a:ext uri="{FF2B5EF4-FFF2-40B4-BE49-F238E27FC236}">
                <ns2:creationId id="{EF0F385D-15A4-49B5-A9B8-22C5EBAFE02B}"/>
              </a:ext>
            </a:extLst>
          </p:cNvPr>
          <p:cNvSpPr>
            <a:spLocks noGrp="1"/>
          </p:cNvSpPr>
          <p:nvPr/>
        </p:nvSpPr>
        <p:spPr>
          <a:xfrm>
            <a:off x="838200" y="4543425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950">
                <a:solidFill>
                  <a:srgbClr val="64748B"/>
                </a:solidFill>
              </a:rPr>
              <a:t>중직무/소직무 선택</a:t>
            </a:r>
          </a:p>
          <a:p>
            <a:pPr>
              <a:spcBef>
                <a:spcPts val="80"/>
              </a:spcBef>
              <a:buNone/>
            </a:pPr>
            <a:r>
              <a:rPr sz="950">
                <a:solidFill>
                  <a:srgbClr val="64748B"/>
                </a:solidFill>
              </a:rPr>
              <a:t>taxonomy pair 후보</a:t>
            </a:r>
          </a:p>
        </p:txBody>
      </p:sp>
      <p:sp>
        <p:nvSpPr>
          <p:cNvPr id="115" name="Step4">
            <a:extLst>
              <a:ext uri="{FF2B5EF4-FFF2-40B4-BE49-F238E27FC236}">
                <ns2:creationId id="{792097A1-FB94-401E-A0AA-AF6C0F988D72}"/>
              </a:ext>
            </a:extLst>
          </p:cNvPr>
          <p:cNvSpPr>
            <a:spLocks noGrp="1"/>
          </p:cNvSpPr>
          <p:nvPr/>
        </p:nvSpPr>
        <p:spPr>
          <a:xfrm>
            <a:off x="3810000" y="3952875"/>
            <a:ext cx="285750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6" name="Step4Num">
            <a:extLst>
              <a:ext uri="{FF2B5EF4-FFF2-40B4-BE49-F238E27FC236}">
                <ns2:creationId id="{7528B1BC-45A8-4AB5-906B-34742E1EA142}"/>
              </a:ext>
            </a:extLst>
          </p:cNvPr>
          <p:cNvSpPr>
            <a:spLocks noGrp="1"/>
          </p:cNvSpPr>
          <p:nvPr/>
        </p:nvSpPr>
        <p:spPr>
          <a:xfrm>
            <a:off x="3981450" y="4124325"/>
            <a:ext cx="400050" cy="40005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117" name="Step4Title">
            <a:extLst>
              <a:ext uri="{FF2B5EF4-FFF2-40B4-BE49-F238E27FC236}">
                <ns2:creationId id="{00BB5504-11E6-4BEA-AA2A-604A19053413}"/>
              </a:ext>
            </a:extLst>
          </p:cNvPr>
          <p:cNvSpPr>
            <a:spLocks noGrp="1"/>
          </p:cNvSpPr>
          <p:nvPr/>
        </p:nvSpPr>
        <p:spPr>
          <a:xfrm>
            <a:off x="4476750" y="4124325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코드 후보 필터</a:t>
            </a:r>
          </a:p>
        </p:txBody>
      </p:sp>
      <p:sp>
        <p:nvSpPr>
          <p:cNvPr id="118" name="Step4Body">
            <a:extLst>
              <a:ext uri="{FF2B5EF4-FFF2-40B4-BE49-F238E27FC236}">
                <ns2:creationId id="{762D358E-9CDC-4FF6-9566-0D862731122C}"/>
              </a:ext>
            </a:extLst>
          </p:cNvPr>
          <p:cNvSpPr>
            <a:spLocks noGrp="1"/>
          </p:cNvSpPr>
          <p:nvPr/>
        </p:nvSpPr>
        <p:spPr>
          <a:xfrm>
            <a:off x="4038600" y="4543425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950">
                <a:solidFill>
                  <a:srgbClr val="64748B"/>
                </a:solidFill>
              </a:rPr>
              <a:t>선택 pair 하위</a:t>
            </a:r>
          </a:p>
          <a:p>
            <a:pPr>
              <a:spcBef>
                <a:spcPts val="80"/>
              </a:spcBef>
              <a:buNone/>
            </a:pPr>
            <a:r>
              <a:rPr sz="950">
                <a:solidFill>
                  <a:srgbClr val="64748B"/>
                </a:solidFill>
              </a:rPr>
              <a:t>최종 후보만 남김</a:t>
            </a:r>
          </a:p>
        </p:txBody>
      </p:sp>
      <p:sp>
        <p:nvSpPr>
          <p:cNvPr id="119" name="Step5">
            <a:extLst>
              <a:ext uri="{FF2B5EF4-FFF2-40B4-BE49-F238E27FC236}">
                <ns2:creationId id="{600C5270-E406-4A9D-ABB2-72C7E74BB419}"/>
              </a:ext>
            </a:extLst>
          </p:cNvPr>
          <p:cNvSpPr>
            <a:spLocks noGrp="1"/>
          </p:cNvSpPr>
          <p:nvPr/>
        </p:nvSpPr>
        <p:spPr>
          <a:xfrm>
            <a:off x="7010400" y="3952875"/>
            <a:ext cx="285750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20" name="Step5Num">
            <a:extLst>
              <a:ext uri="{FF2B5EF4-FFF2-40B4-BE49-F238E27FC236}">
                <ns2:creationId id="{D7619051-DE3C-4084-81C4-7C7943B8628C}"/>
              </a:ext>
            </a:extLst>
          </p:cNvPr>
          <p:cNvSpPr>
            <a:spLocks noGrp="1"/>
          </p:cNvSpPr>
          <p:nvPr/>
        </p:nvSpPr>
        <p:spPr>
          <a:xfrm>
            <a:off x="7181850" y="4124325"/>
            <a:ext cx="400050" cy="40005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6D28D9"/>
                </a:solidFill>
              </a:rPr>
              <a:t>5</a:t>
            </a:r>
          </a:p>
        </p:txBody>
      </p:sp>
      <p:sp>
        <p:nvSpPr>
          <p:cNvPr id="121" name="Step5Title">
            <a:extLst>
              <a:ext uri="{FF2B5EF4-FFF2-40B4-BE49-F238E27FC236}">
                <ns2:creationId id="{2225B0D8-7250-4B78-87C3-B592BDCDCA86}"/>
              </a:ext>
            </a:extLst>
          </p:cNvPr>
          <p:cNvSpPr>
            <a:spLocks noGrp="1"/>
          </p:cNvSpPr>
          <p:nvPr/>
        </p:nvSpPr>
        <p:spPr>
          <a:xfrm>
            <a:off x="7677150" y="4124325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LLM 2차 호출</a:t>
            </a:r>
          </a:p>
        </p:txBody>
      </p:sp>
      <p:sp>
        <p:nvSpPr>
          <p:cNvPr id="122" name="Step5Body">
            <a:extLst>
              <a:ext uri="{FF2B5EF4-FFF2-40B4-BE49-F238E27FC236}">
                <ns2:creationId id="{8DF50F15-5323-4DF5-8BFB-7DCF13C33500}"/>
              </a:ext>
            </a:extLst>
          </p:cNvPr>
          <p:cNvSpPr>
            <a:spLocks noGrp="1"/>
          </p:cNvSpPr>
          <p:nvPr/>
        </p:nvSpPr>
        <p:spPr>
          <a:xfrm>
            <a:off x="7239000" y="4543425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950">
                <a:solidFill>
                  <a:srgbClr val="64748B"/>
                </a:solidFill>
              </a:rPr>
              <a:t>Device/단위/세부</a:t>
            </a:r>
          </a:p>
          <a:p>
            <a:pPr>
              <a:spcBef>
                <a:spcPts val="80"/>
              </a:spcBef>
              <a:buNone/>
            </a:pPr>
            <a:r>
              <a:rPr sz="950">
                <a:solidFill>
                  <a:srgbClr val="64748B"/>
                </a:solidFill>
              </a:rPr>
              <a:t>최종 row 선택</a:t>
            </a:r>
          </a:p>
        </p:txBody>
      </p:sp>
      <p:sp>
        <p:nvSpPr>
          <p:cNvPr id="123" name="Step6">
            <a:extLst>
              <a:ext uri="{FF2B5EF4-FFF2-40B4-BE49-F238E27FC236}">
                <ns2:creationId id="{DBBF8582-37AA-45A1-8EC1-418AFA210D25}"/>
              </a:ext>
            </a:extLst>
          </p:cNvPr>
          <p:cNvSpPr>
            <a:spLocks noGrp="1"/>
          </p:cNvSpPr>
          <p:nvPr/>
        </p:nvSpPr>
        <p:spPr>
          <a:xfrm>
            <a:off x="10210800" y="3952875"/>
            <a:ext cx="285750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24" name="Step6Num">
            <a:extLst>
              <a:ext uri="{FF2B5EF4-FFF2-40B4-BE49-F238E27FC236}">
                <ns2:creationId id="{8EAAA84E-14CC-47B2-9F15-79A2328B63F9}"/>
              </a:ext>
            </a:extLst>
          </p:cNvPr>
          <p:cNvSpPr>
            <a:spLocks noGrp="1"/>
          </p:cNvSpPr>
          <p:nvPr/>
        </p:nvSpPr>
        <p:spPr>
          <a:xfrm>
            <a:off x="10382250" y="4124325"/>
            <a:ext cx="400050" cy="40005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B91C1C"/>
                </a:solidFill>
              </a:rPr>
              <a:t>6</a:t>
            </a:r>
          </a:p>
        </p:txBody>
      </p:sp>
      <p:sp>
        <p:nvSpPr>
          <p:cNvPr id="125" name="Step6Title">
            <a:extLst>
              <a:ext uri="{FF2B5EF4-FFF2-40B4-BE49-F238E27FC236}">
                <ns2:creationId id="{93A440D3-EA67-471E-A9E2-DFFF255E7AAE}"/>
              </a:ext>
            </a:extLst>
          </p:cNvPr>
          <p:cNvSpPr>
            <a:spLocks noGrp="1"/>
          </p:cNvSpPr>
          <p:nvPr/>
        </p:nvSpPr>
        <p:spPr>
          <a:xfrm>
            <a:off x="10877550" y="4124325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코드 검증·보정</a:t>
            </a:r>
          </a:p>
        </p:txBody>
      </p:sp>
      <p:sp>
        <p:nvSpPr>
          <p:cNvPr id="126" name="Step6Body">
            <a:extLst>
              <a:ext uri="{FF2B5EF4-FFF2-40B4-BE49-F238E27FC236}">
                <ns2:creationId id="{E3C1CE61-CBC9-4678-8EEF-15892B971A8F}"/>
              </a:ext>
            </a:extLst>
          </p:cNvPr>
          <p:cNvSpPr>
            <a:spLocks noGrp="1"/>
          </p:cNvSpPr>
          <p:nvPr/>
        </p:nvSpPr>
        <p:spPr>
          <a:xfrm>
            <a:off x="10439400" y="4543425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950">
                <a:solidFill>
                  <a:srgbClr val="64748B"/>
                </a:solidFill>
              </a:rPr>
              <a:t>taxonomy 검증</a:t>
            </a:r>
          </a:p>
          <a:p>
            <a:pPr>
              <a:spcBef>
                <a:spcPts val="80"/>
              </a:spcBef>
              <a:buNone/>
            </a:pPr>
            <a:r>
              <a:rPr sz="950">
                <a:solidFill>
                  <a:srgbClr val="64748B"/>
                </a:solidFill>
              </a:rPr>
              <a:t>진단·공정 guardrail</a:t>
            </a:r>
          </a:p>
        </p:txBody>
      </p:sp>
      <p:sp>
        <p:nvSpPr>
          <p:cNvPr id="127" name="Step7">
            <a:extLst>
              <a:ext uri="{FF2B5EF4-FFF2-40B4-BE49-F238E27FC236}">
                <ns2:creationId id="{C4355EDA-C44F-4D78-9727-8843B7B54831}"/>
              </a:ext>
            </a:extLst>
          </p:cNvPr>
          <p:cNvSpPr>
            <a:spLocks noGrp="1"/>
          </p:cNvSpPr>
          <p:nvPr/>
        </p:nvSpPr>
        <p:spPr>
          <a:xfrm>
            <a:off x="10210800" y="2381250"/>
            <a:ext cx="285750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28" name="Step7Num">
            <a:extLst>
              <a:ext uri="{FF2B5EF4-FFF2-40B4-BE49-F238E27FC236}">
                <ns2:creationId id="{27043428-A9EE-4D54-825D-FB8E32723230}"/>
              </a:ext>
            </a:extLst>
          </p:cNvPr>
          <p:cNvSpPr>
            <a:spLocks noGrp="1"/>
          </p:cNvSpPr>
          <p:nvPr/>
        </p:nvSpPr>
        <p:spPr>
          <a:xfrm>
            <a:off x="10382250" y="2552700"/>
            <a:ext cx="400050" cy="40005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047857"/>
                </a:solidFill>
              </a:rPr>
              <a:t>7</a:t>
            </a:r>
          </a:p>
        </p:txBody>
      </p:sp>
      <p:sp>
        <p:nvSpPr>
          <p:cNvPr id="129" name="Step7Title">
            <a:extLst>
              <a:ext uri="{FF2B5EF4-FFF2-40B4-BE49-F238E27FC236}">
                <ns2:creationId id="{EC37EC90-EDEA-4FC4-9BCA-B08919C3D192}"/>
              </a:ext>
            </a:extLst>
          </p:cNvPr>
          <p:cNvSpPr>
            <a:spLocks noGrp="1"/>
          </p:cNvSpPr>
          <p:nvPr/>
        </p:nvSpPr>
        <p:spPr>
          <a:xfrm>
            <a:off x="10877550" y="255270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CSV·검수 분기</a:t>
            </a:r>
          </a:p>
        </p:txBody>
      </p:sp>
      <p:sp>
        <p:nvSpPr>
          <p:cNvPr id="130" name="Step7Body">
            <a:extLst>
              <a:ext uri="{FF2B5EF4-FFF2-40B4-BE49-F238E27FC236}">
                <ns2:creationId id="{DAFE5799-457E-4411-BC7C-D35B6F48B98C}"/>
              </a:ext>
            </a:extLst>
          </p:cNvPr>
          <p:cNvSpPr>
            <a:spLocks noGrp="1"/>
          </p:cNvSpPr>
          <p:nvPr/>
        </p:nvSpPr>
        <p:spPr>
          <a:xfrm>
            <a:off x="10439400" y="29718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950">
                <a:solidFill>
                  <a:srgbClr val="64748B"/>
                </a:solidFill>
              </a:rPr>
              <a:t>정상 결과 저장</a:t>
            </a:r>
          </a:p>
          <a:p>
            <a:pPr>
              <a:spcBef>
                <a:spcPts val="80"/>
              </a:spcBef>
              <a:buNone/>
            </a:pPr>
            <a:r>
              <a:rPr sz="950">
                <a:solidFill>
                  <a:srgbClr val="64748B"/>
                </a:solidFill>
              </a:rPr>
              <a:t>needs_review 분리</a:t>
            </a:r>
          </a:p>
        </p:txBody>
      </p:sp>
      <p:sp>
        <p:nvSpPr>
          <p:cNvPr id="131" name="TrustPanel">
            <a:extLst>
              <a:ext uri="{FF2B5EF4-FFF2-40B4-BE49-F238E27FC236}">
                <ns2:creationId id="{5E3D326F-7F70-4E90-BE32-20FA2E9C4DD2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3411200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32" name="TrustTag">
            <a:extLst>
              <a:ext uri="{FF2B5EF4-FFF2-40B4-BE49-F238E27FC236}">
                <ns2:creationId id="{3C181BD5-8706-40AC-ADED-B5AB546C7B6D}"/>
              </a:ext>
            </a:extLst>
          </p:cNvPr>
          <p:cNvSpPr>
            <a:spLocks noGrp="1"/>
          </p:cNvSpPr>
          <p:nvPr/>
        </p:nvSpPr>
        <p:spPr>
          <a:xfrm>
            <a:off x="857250" y="5600700"/>
            <a:ext cx="1524000" cy="30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호출·검증 구조</a:t>
            </a:r>
          </a:p>
        </p:txBody>
      </p:sp>
      <p:sp>
        <p:nvSpPr>
          <p:cNvPr id="133" name="TrustHeadline">
            <a:extLst>
              <a:ext uri="{FF2B5EF4-FFF2-40B4-BE49-F238E27FC236}">
                <ns2:creationId id="{5F1FC96C-8CAE-498A-91D1-C6B6F6B3DAE2}"/>
              </a:ext>
            </a:extLst>
          </p:cNvPr>
          <p:cNvSpPr>
            <a:spLocks noGrp="1"/>
          </p:cNvSpPr>
          <p:nvPr/>
        </p:nvSpPr>
        <p:spPr>
          <a:xfrm>
            <a:off x="857250" y="6019800"/>
            <a:ext cx="123825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900" b="1">
                <a:solidFill>
                  <a:srgbClr val="0F172A"/>
                </a:solidFill>
              </a:rPr>
              <a:t>LLM은 선택하고, 코드는 후보 제한·보정·검수 분리를 담당합니다.</a:t>
            </a:r>
          </a:p>
        </p:txBody>
      </p:sp>
      <p:sp>
        <p:nvSpPr>
          <p:cNvPr id="134" name="Dot0">
            <a:extLst>
              <a:ext uri="{FF2B5EF4-FFF2-40B4-BE49-F238E27FC236}">
                <ns2:creationId id="{1A88A7DC-5141-4AA1-BA47-E66B8A892500}"/>
              </a:ext>
            </a:extLst>
          </p:cNvPr>
          <p:cNvSpPr>
            <a:spLocks noGrp="1"/>
          </p:cNvSpPr>
          <p:nvPr/>
        </p:nvSpPr>
        <p:spPr>
          <a:xfrm>
            <a:off x="857250" y="6619875"/>
            <a:ext cx="123825" cy="123825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35" name="ColTitle0">
            <a:extLst>
              <a:ext uri="{FF2B5EF4-FFF2-40B4-BE49-F238E27FC236}">
                <ns2:creationId id="{BBB8E904-CD98-43F1-B409-738FBBF31496}"/>
              </a:ext>
            </a:extLst>
          </p:cNvPr>
          <p:cNvSpPr>
            <a:spLocks noGrp="1"/>
          </p:cNvSpPr>
          <p:nvPr/>
        </p:nvSpPr>
        <p:spPr>
          <a:xfrm>
            <a:off x="1085850" y="655320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LLM 선택</a:t>
            </a:r>
          </a:p>
        </p:txBody>
      </p:sp>
      <p:sp>
        <p:nvSpPr>
          <p:cNvPr id="136" name="ColBody0">
            <a:extLst>
              <a:ext uri="{FF2B5EF4-FFF2-40B4-BE49-F238E27FC236}">
                <ns2:creationId id="{A13B7CC0-777D-4323-9506-24F846C065A6}"/>
              </a:ext>
            </a:extLst>
          </p:cNvPr>
          <p:cNvSpPr>
            <a:spLocks noGrp="1"/>
          </p:cNvSpPr>
          <p:nvPr/>
        </p:nvSpPr>
        <p:spPr>
          <a:xfrm>
            <a:off x="1085850" y="6877050"/>
            <a:ext cx="38862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050">
                <a:solidFill>
                  <a:srgbClr val="64748B"/>
                </a:solidFill>
              </a:rPr>
              <a:t>Stage 1/2에서 후보 중 선택</a:t>
            </a:r>
          </a:p>
          <a:p>
            <a:pPr>
              <a:spcBef>
                <a:spcPts val="80"/>
              </a:spcBef>
              <a:buNone/>
            </a:pPr>
            <a:r>
              <a:rPr sz="1050">
                <a:solidFill>
                  <a:srgbClr val="64748B"/>
                </a:solidFill>
              </a:rPr>
              <a:t>confidence·reason 초안 생성</a:t>
            </a:r>
          </a:p>
        </p:txBody>
      </p:sp>
      <p:sp>
        <p:nvSpPr>
          <p:cNvPr id="137" name="Dot1">
            <a:extLst>
              <a:ext uri="{FF2B5EF4-FFF2-40B4-BE49-F238E27FC236}">
                <ns2:creationId id="{5E2E7FCC-03B4-45AF-9E8C-95B12D807748}"/>
              </a:ext>
            </a:extLst>
          </p:cNvPr>
          <p:cNvSpPr>
            <a:spLocks noGrp="1"/>
          </p:cNvSpPr>
          <p:nvPr/>
        </p:nvSpPr>
        <p:spPr>
          <a:xfrm>
            <a:off x="5257800" y="6619875"/>
            <a:ext cx="123825" cy="12382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38" name="ColTitle1">
            <a:extLst>
              <a:ext uri="{FF2B5EF4-FFF2-40B4-BE49-F238E27FC236}">
                <ns2:creationId id="{334BC3A1-3553-44E7-AC70-461B14F53110}"/>
              </a:ext>
            </a:extLst>
          </p:cNvPr>
          <p:cNvSpPr>
            <a:spLocks noGrp="1"/>
          </p:cNvSpPr>
          <p:nvPr/>
        </p:nvSpPr>
        <p:spPr>
          <a:xfrm>
            <a:off x="5486400" y="655320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코드 보정</a:t>
            </a:r>
          </a:p>
        </p:txBody>
      </p:sp>
      <p:sp>
        <p:nvSpPr>
          <p:cNvPr id="139" name="ColBody1">
            <a:extLst>
              <a:ext uri="{FF2B5EF4-FFF2-40B4-BE49-F238E27FC236}">
                <ns2:creationId id="{2154EE9D-46DD-4F9A-95F4-B889EE6CEB8B}"/>
              </a:ext>
            </a:extLst>
          </p:cNvPr>
          <p:cNvSpPr>
            <a:spLocks noGrp="1"/>
          </p:cNvSpPr>
          <p:nvPr/>
        </p:nvSpPr>
        <p:spPr>
          <a:xfrm>
            <a:off x="5486400" y="6877050"/>
            <a:ext cx="38862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050">
                <a:solidFill>
                  <a:srgbClr val="64748B"/>
                </a:solidFill>
              </a:rPr>
              <a:t>후보 필터링·taxonomy 검증</a:t>
            </a:r>
          </a:p>
          <a:p>
            <a:pPr>
              <a:spcBef>
                <a:spcPts val="80"/>
              </a:spcBef>
              <a:buNone/>
            </a:pPr>
            <a:r>
              <a:rPr sz="1050">
                <a:solidFill>
                  <a:srgbClr val="64748B"/>
                </a:solidFill>
              </a:rPr>
              <a:t>diagnosis/process guardrail</a:t>
            </a:r>
          </a:p>
        </p:txBody>
      </p:sp>
      <p:sp>
        <p:nvSpPr>
          <p:cNvPr id="140" name="Dot2">
            <a:extLst>
              <a:ext uri="{FF2B5EF4-FFF2-40B4-BE49-F238E27FC236}">
                <ns2:creationId id="{3FCD2B9E-A7D1-4463-A091-42DF8D4606CC}"/>
              </a:ext>
            </a:extLst>
          </p:cNvPr>
          <p:cNvSpPr>
            <a:spLocks noGrp="1"/>
          </p:cNvSpPr>
          <p:nvPr/>
        </p:nvSpPr>
        <p:spPr>
          <a:xfrm>
            <a:off x="9658350" y="6619875"/>
            <a:ext cx="123825" cy="123825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41" name="ColTitle2">
            <a:extLst>
              <a:ext uri="{FF2B5EF4-FFF2-40B4-BE49-F238E27FC236}">
                <ns2:creationId id="{E60A1D2F-3397-4D53-B04C-4ECB612F150A}"/>
              </a:ext>
            </a:extLst>
          </p:cNvPr>
          <p:cNvSpPr>
            <a:spLocks noGrp="1"/>
          </p:cNvSpPr>
          <p:nvPr/>
        </p:nvSpPr>
        <p:spPr>
          <a:xfrm>
            <a:off x="9886950" y="655320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350" b="1">
                <a:solidFill>
                  <a:srgbClr val="0F172A"/>
                </a:solidFill>
              </a:rPr>
              <a:t>검수 분리</a:t>
            </a:r>
          </a:p>
        </p:txBody>
      </p:sp>
      <p:sp>
        <p:nvSpPr>
          <p:cNvPr id="142" name="ColBody2">
            <a:extLst>
              <a:ext uri="{FF2B5EF4-FFF2-40B4-BE49-F238E27FC236}">
                <ns2:creationId id="{94549917-85F8-42E5-9696-CDFDA80C8E67}"/>
              </a:ext>
            </a:extLst>
          </p:cNvPr>
          <p:cNvSpPr>
            <a:spLocks noGrp="1"/>
          </p:cNvSpPr>
          <p:nvPr/>
        </p:nvSpPr>
        <p:spPr>
          <a:xfrm>
            <a:off x="9886950" y="6877050"/>
            <a:ext cx="38862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050">
                <a:solidFill>
                  <a:srgbClr val="64748B"/>
                </a:solidFill>
              </a:rPr>
              <a:t>낮은 confidence·중복 직무·오류</a:t>
            </a:r>
          </a:p>
          <a:p>
            <a:pPr>
              <a:spcBef>
                <a:spcPts val="80"/>
              </a:spcBef>
              <a:buNone/>
            </a:pPr>
            <a:r>
              <a:rPr sz="1050">
                <a:solidFill>
                  <a:srgbClr val="64748B"/>
                </a:solidFill>
              </a:rPr>
              <a:t>needs_review=True</a:t>
            </a:r>
          </a:p>
        </p:txBody>
      </p:sp>
      <p:sp>
        <p:nvSpPr>
          <p:cNvPr id="143" name="FL">
            <a:extLst>
              <a:ext uri="{FF2B5EF4-FFF2-40B4-BE49-F238E27FC236}">
                <ns2:creationId id="{4C6D43C8-FDF7-4CA5-9427-3F0A0D2A8FC9}"/>
              </a:ext>
            </a:extLst>
          </p:cNvPr>
          <p:cNvSpPr>
            <a:spLocks noGrp="1"/>
          </p:cNvSpPr>
          <p:nvPr/>
        </p:nvSpPr>
        <p:spPr>
          <a:xfrm>
            <a:off x="609600" y="7810500"/>
            <a:ext cx="25336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100">
                <a:solidFill>
                  <a:srgbClr val="94A3B8"/>
                </a:solidFill>
              </a:rPr>
              <a:t>처리 흐름</a:t>
            </a:r>
          </a:p>
        </p:txBody>
      </p:sp>
      <p:sp>
        <p:nvSpPr>
          <p:cNvPr id="144" name="FR">
            <a:extLst>
              <a:ext uri="{FF2B5EF4-FFF2-40B4-BE49-F238E27FC236}">
                <ns2:creationId id="{BF05FC46-85AA-4C87-8BC6-D542D5F0FBA0}"/>
              </a:ext>
            </a:extLst>
          </p:cNvPr>
          <p:cNvSpPr>
            <a:spLocks noGrp="1"/>
          </p:cNvSpPr>
          <p:nvPr/>
        </p:nvSpPr>
        <p:spPr>
          <a:xfrm>
            <a:off x="13201650" y="7810500"/>
            <a:ext cx="8191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sz="1100">
                <a:solidFill>
                  <a:srgbClr val="94A3B8"/>
                </a:solidFill>
              </a:rPr>
              <a:t>2/4</a:t>
            </a:r>
          </a:p>
        </p:txBody>
      </p:sp>
      <p:sp>
        <p:nvSpPr>
          <p:cNvPr id="300" name="ArrowInputCache"/>
          <p:cNvSpPr txBox="1"/>
          <p:nvPr/>
        </p:nvSpPr>
        <p:spPr>
          <a:xfrm>
            <a:off x="3486150" y="2800350"/>
            <a:ext cx="2667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2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1" name="ArrowCacheOutput"/>
          <p:cNvSpPr txBox="1"/>
          <p:nvPr/>
        </p:nvSpPr>
        <p:spPr>
          <a:xfrm>
            <a:off x="6705600" y="2733675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200" b="1">
                <a:solidFill>
                  <a:srgbClr val="64748B"/>
                </a:solidFill>
              </a:rPr>
              <a:t>cache hit →</a:t>
            </a:r>
          </a:p>
        </p:txBody>
      </p:sp>
      <p:sp>
        <p:nvSpPr>
          <p:cNvPr id="302" name="ArrowCacheMiss"/>
          <p:cNvSpPr txBox="1"/>
          <p:nvPr/>
        </p:nvSpPr>
        <p:spPr>
          <a:xfrm>
            <a:off x="4857750" y="364807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200" b="1">
                <a:solidFill>
                  <a:srgbClr val="64748B"/>
                </a:solidFill>
              </a:rPr>
              <a:t>miss ↓</a:t>
            </a:r>
          </a:p>
        </p:txBody>
      </p:sp>
      <p:sp>
        <p:nvSpPr>
          <p:cNvPr id="303" name="ArrowStage1Filter"/>
          <p:cNvSpPr txBox="1"/>
          <p:nvPr/>
        </p:nvSpPr>
        <p:spPr>
          <a:xfrm>
            <a:off x="3486150" y="4371975"/>
            <a:ext cx="2667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2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4" name="ArrowFilterStage2"/>
          <p:cNvSpPr txBox="1"/>
          <p:nvPr/>
        </p:nvSpPr>
        <p:spPr>
          <a:xfrm>
            <a:off x="6686550" y="4371975"/>
            <a:ext cx="2667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2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5" name="ArrowStage2Verify"/>
          <p:cNvSpPr txBox="1"/>
          <p:nvPr/>
        </p:nvSpPr>
        <p:spPr>
          <a:xfrm>
            <a:off x="9886950" y="4371975"/>
            <a:ext cx="2667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2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6" name="ArrowVerifyOutput"/>
          <p:cNvSpPr txBox="1"/>
          <p:nvPr/>
        </p:nvSpPr>
        <p:spPr>
          <a:xfrm>
            <a:off x="11525250" y="3648075"/>
            <a:ext cx="10668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64748B"/>
                </a:solidFill>
              </a:rPr>
              <a:t>통과 ↑</a:t>
            </a:r>
          </a:p>
        </p:txBody>
      </p:sp>
    </p:spTree>
    <p:extLst>
      <p:ext uri="{BB962C8B-B14F-4D97-AF65-F5344CB8AC3E}">
        <ns3:creationId val="1230930241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00" name="BadgeBg">
            <a:extLst>
              <a:ext uri="{FF2B5EF4-FFF2-40B4-BE49-F238E27FC236}">
                <ns2:creationId id="{F5A6F3D7-4E9B-419A-85B0-B1135F1FEBAE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651000" cy="406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201" name="Badge">
            <a:extLst>
              <a:ext uri="{FF2B5EF4-FFF2-40B4-BE49-F238E27FC236}">
                <ns2:creationId id="{15AEB9DC-3CE6-4A4B-98EA-C615CCA8F036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rgbClr val="4338CA"/>
                </a:solidFill>
              </a:rPr>
              <a:t>판단 가이드</a:t>
            </a:r>
          </a:p>
        </p:txBody>
      </p:sp>
      <p:sp>
        <p:nvSpPr>
          <p:cNvPr id="202" name="Title">
            <a:extLst>
              <a:ext uri="{FF2B5EF4-FFF2-40B4-BE49-F238E27FC236}">
                <ns2:creationId id="{2B8E057B-0F7B-41BE-B40A-F12668FB9127}"/>
              </a:ext>
            </a:extLst>
          </p:cNvPr>
          <p:cNvSpPr>
            <a:spLocks noGrp="1"/>
          </p:cNvSpPr>
          <p:nvPr/>
        </p:nvSpPr>
        <p:spPr>
          <a:xfrm>
            <a:off x="609600" y="1041400"/>
            <a:ext cx="13411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2800" b="1">
                <a:solidFill>
                  <a:srgbClr val="0F172A"/>
                </a:solidFill>
              </a:rPr>
              <a:t>LLM 판단 가이드 룰</a:t>
            </a:r>
          </a:p>
        </p:txBody>
      </p:sp>
      <p:sp>
        <p:nvSpPr>
          <p:cNvPr id="203" name="Subtitle">
            <a:extLst>
              <a:ext uri="{FF2B5EF4-FFF2-40B4-BE49-F238E27FC236}">
                <ns2:creationId id="{EC54C19F-1268-4E7D-85AA-BA51F8E8CF4F}"/>
              </a:ext>
            </a:extLst>
          </p:cNvPr>
          <p:cNvSpPr>
            <a:spLocks noGrp="1"/>
          </p:cNvSpPr>
          <p:nvPr/>
        </p:nvSpPr>
        <p:spPr>
          <a:xfrm>
            <a:off x="609600" y="1701800"/>
            <a:ext cx="13411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500">
                <a:solidFill>
                  <a:srgbClr val="475569"/>
                </a:solidFill>
              </a:rPr>
              <a:t>실제 self_review에서 동사·산출물·검증 활동을 찾아 taxonomy 후보를 좁히는 방식입니다.</a:t>
            </a:r>
          </a:p>
        </p:txBody>
      </p:sp>
      <p:sp>
        <p:nvSpPr>
          <p:cNvPr id="300" name="CardBg">
            <a:extLst>
              <a:ext uri="{FF2B5EF4-FFF2-40B4-BE49-F238E27FC236}">
                <ns2:creationId id="{2E704AFD-ECDF-4BC1-8F2A-C0960DF8E0FF}"/>
              </a:ext>
            </a:extLst>
          </p:cNvPr>
          <p:cNvSpPr>
            <a:spLocks noGrp="1"/>
          </p:cNvSpPr>
          <p:nvPr/>
        </p:nvSpPr>
        <p:spPr>
          <a:xfrm>
            <a:off x="609600" y="24892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1" name="NumBg">
            <a:extLst>
              <a:ext uri="{FF2B5EF4-FFF2-40B4-BE49-F238E27FC236}">
                <ns2:creationId id="{E697E0F1-08E6-49C1-A1E2-9CA12F7C5411}"/>
              </a:ext>
            </a:extLst>
          </p:cNvPr>
          <p:cNvSpPr>
            <a:spLocks noGrp="1"/>
          </p:cNvSpPr>
          <p:nvPr/>
        </p:nvSpPr>
        <p:spPr>
          <a:xfrm>
            <a:off x="812800" y="27178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2" name="Num">
            <a:extLst>
              <a:ext uri="{FF2B5EF4-FFF2-40B4-BE49-F238E27FC236}">
                <ns2:creationId id="{092F66A3-B722-49BE-AE72-1388C8992A23}"/>
              </a:ext>
            </a:extLst>
          </p:cNvPr>
          <p:cNvSpPr>
            <a:spLocks noGrp="1"/>
          </p:cNvSpPr>
          <p:nvPr/>
        </p:nvSpPr>
        <p:spPr>
          <a:xfrm>
            <a:off x="812800" y="27178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4338CA"/>
                </a:solidFill>
              </a:rPr>
              <a:t>1</a:t>
            </a:r>
          </a:p>
        </p:txBody>
      </p:sp>
      <p:sp>
        <p:nvSpPr>
          <p:cNvPr id="303" name="CardTitle">
            <a:extLst>
              <a:ext uri="{FF2B5EF4-FFF2-40B4-BE49-F238E27FC236}">
                <ns2:creationId id="{F119729D-FE57-42F6-B54C-3453F9BF26AF}"/>
              </a:ext>
            </a:extLst>
          </p:cNvPr>
          <p:cNvSpPr>
            <a:spLocks noGrp="1"/>
          </p:cNvSpPr>
          <p:nvPr/>
        </p:nvSpPr>
        <p:spPr>
          <a:xfrm>
            <a:off x="1371600" y="27432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정답 후보 제한</a:t>
            </a:r>
          </a:p>
        </p:txBody>
      </p:sp>
      <p:sp>
        <p:nvSpPr>
          <p:cNvPr id="304" name="CardBody">
            <a:extLst>
              <a:ext uri="{FF2B5EF4-FFF2-40B4-BE49-F238E27FC236}">
                <ns2:creationId id="{D65C95A5-8EE2-4E2C-BB08-C75B4C9733E1}"/>
              </a:ext>
            </a:extLst>
          </p:cNvPr>
          <p:cNvSpPr>
            <a:spLocks noGrp="1"/>
          </p:cNvSpPr>
          <p:nvPr/>
        </p:nvSpPr>
        <p:spPr>
          <a:xfrm>
            <a:off x="863600" y="32766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사내 taxonomy에 존재하는 조합만 선택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없는 직무명이나 임의 계층 생성 불가</a:t>
            </a:r>
          </a:p>
        </p:txBody>
      </p:sp>
      <p:sp>
        <p:nvSpPr>
          <p:cNvPr id="305" name="CardBg">
            <a:extLst>
              <a:ext uri="{FF2B5EF4-FFF2-40B4-BE49-F238E27FC236}">
                <ns2:creationId id="{BAEE1148-B498-4DDC-BB13-15D482E4520D}"/>
              </a:ext>
            </a:extLst>
          </p:cNvPr>
          <p:cNvSpPr>
            <a:spLocks noGrp="1"/>
          </p:cNvSpPr>
          <p:nvPr/>
        </p:nvSpPr>
        <p:spPr>
          <a:xfrm>
            <a:off x="7416800" y="24892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6" name="NumBg">
            <a:extLst>
              <a:ext uri="{FF2B5EF4-FFF2-40B4-BE49-F238E27FC236}">
                <ns2:creationId id="{D08A21A3-2040-4895-A17C-630D8B42FB67}"/>
              </a:ext>
            </a:extLst>
          </p:cNvPr>
          <p:cNvSpPr>
            <a:spLocks noGrp="1"/>
          </p:cNvSpPr>
          <p:nvPr/>
        </p:nvSpPr>
        <p:spPr>
          <a:xfrm>
            <a:off x="7620000" y="27178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7" name="Num">
            <a:extLst>
              <a:ext uri="{FF2B5EF4-FFF2-40B4-BE49-F238E27FC236}">
                <ns2:creationId id="{F859A2D4-00BA-4E91-B66E-166EC6FDC72B}"/>
              </a:ext>
            </a:extLst>
          </p:cNvPr>
          <p:cNvSpPr>
            <a:spLocks noGrp="1"/>
          </p:cNvSpPr>
          <p:nvPr/>
        </p:nvSpPr>
        <p:spPr>
          <a:xfrm>
            <a:off x="7620000" y="27178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E7490"/>
                </a:solidFill>
              </a:rPr>
              <a:t>2</a:t>
            </a:r>
          </a:p>
        </p:txBody>
      </p:sp>
      <p:sp>
        <p:nvSpPr>
          <p:cNvPr id="308" name="CardTitle">
            <a:extLst>
              <a:ext uri="{FF2B5EF4-FFF2-40B4-BE49-F238E27FC236}">
                <ns2:creationId id="{F2639C3B-9EF1-4629-911F-32BC409B2A8F}"/>
              </a:ext>
            </a:extLst>
          </p:cNvPr>
          <p:cNvSpPr>
            <a:spLocks noGrp="1"/>
          </p:cNvSpPr>
          <p:nvPr/>
        </p:nvSpPr>
        <p:spPr>
          <a:xfrm>
            <a:off x="8178800" y="27432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프롬프트 단서 추출</a:t>
            </a:r>
          </a:p>
        </p:txBody>
      </p:sp>
      <p:sp>
        <p:nvSpPr>
          <p:cNvPr id="309" name="CardBody">
            <a:extLst>
              <a:ext uri="{FF2B5EF4-FFF2-40B4-BE49-F238E27FC236}">
                <ns2:creationId id="{DC1BBF8E-EEAD-4FE7-B025-C15992220C00}"/>
              </a:ext>
            </a:extLst>
          </p:cNvPr>
          <p:cNvSpPr>
            <a:spLocks noGrp="1"/>
          </p:cNvSpPr>
          <p:nvPr/>
        </p:nvSpPr>
        <p:spPr>
          <a:xfrm>
            <a:off x="7670800" y="32766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동사: 검토·수행·평가·Tuning·개발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산출물: Base Line·Scheme·Process Flow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검증 활동: Process Qual·공정 조건 평가·Low-k IMD 평가</a:t>
            </a:r>
          </a:p>
        </p:txBody>
      </p:sp>
      <p:sp>
        <p:nvSpPr>
          <p:cNvPr id="310" name="CardBg">
            <a:extLst>
              <a:ext uri="{FF2B5EF4-FFF2-40B4-BE49-F238E27FC236}">
                <ns2:creationId id="{4122E640-5B75-42D8-B7A8-5086C1A22457}"/>
              </a:ext>
            </a:extLst>
          </p:cNvPr>
          <p:cNvSpPr>
            <a:spLocks noGrp="1"/>
          </p:cNvSpPr>
          <p:nvPr/>
        </p:nvSpPr>
        <p:spPr>
          <a:xfrm>
            <a:off x="609600" y="49276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1" name="NumBg">
            <a:extLst>
              <a:ext uri="{FF2B5EF4-FFF2-40B4-BE49-F238E27FC236}">
                <ns2:creationId id="{E71E2A1A-D3C4-4C0C-ACC1-335EAC436567}"/>
              </a:ext>
            </a:extLst>
          </p:cNvPr>
          <p:cNvSpPr>
            <a:spLocks noGrp="1"/>
          </p:cNvSpPr>
          <p:nvPr/>
        </p:nvSpPr>
        <p:spPr>
          <a:xfrm>
            <a:off x="812800" y="51562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2" name="Num">
            <a:extLst>
              <a:ext uri="{FF2B5EF4-FFF2-40B4-BE49-F238E27FC236}">
                <ns2:creationId id="{B10769DC-C837-4601-858B-16C6A8F58D4B}"/>
              </a:ext>
            </a:extLst>
          </p:cNvPr>
          <p:cNvSpPr>
            <a:spLocks noGrp="1"/>
          </p:cNvSpPr>
          <p:nvPr/>
        </p:nvSpPr>
        <p:spPr>
          <a:xfrm>
            <a:off x="812800" y="51562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B45309"/>
                </a:solidFill>
              </a:rPr>
              <a:t>3</a:t>
            </a:r>
          </a:p>
        </p:txBody>
      </p:sp>
      <p:sp>
        <p:nvSpPr>
          <p:cNvPr id="313" name="CardTitle">
            <a:extLst>
              <a:ext uri="{FF2B5EF4-FFF2-40B4-BE49-F238E27FC236}">
                <ns2:creationId id="{F3F67F1D-D864-4D39-AC50-B91D03DCBA52}"/>
              </a:ext>
            </a:extLst>
          </p:cNvPr>
          <p:cNvSpPr>
            <a:spLocks noGrp="1"/>
          </p:cNvSpPr>
          <p:nvPr/>
        </p:nvSpPr>
        <p:spPr>
          <a:xfrm>
            <a:off x="1371600" y="51816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판단 적용 예시</a:t>
            </a:r>
          </a:p>
        </p:txBody>
      </p:sp>
      <p:sp>
        <p:nvSpPr>
          <p:cNvPr id="314" name="CardBody">
            <a:extLst>
              <a:ext uri="{FF2B5EF4-FFF2-40B4-BE49-F238E27FC236}">
                <ns2:creationId id="{51CE28F5-B90C-4551-9D8E-656E421FAB1B}"/>
              </a:ext>
            </a:extLst>
          </p:cNvPr>
          <p:cNvSpPr>
            <a:spLocks noGrp="1"/>
          </p:cNvSpPr>
          <p:nvPr/>
        </p:nvSpPr>
        <p:spPr>
          <a:xfrm>
            <a:off x="863600" y="57150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예문: DRAM MLM Module Process Qual 수행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DRAM/MLM은 대상·단위 단서, 직접 결론 아님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Qual·평가·Flow가 강하면 중직무=공정 우선</a:t>
            </a:r>
          </a:p>
        </p:txBody>
      </p:sp>
      <p:sp>
        <p:nvSpPr>
          <p:cNvPr id="315" name="CardBg">
            <a:extLst>
              <a:ext uri="{FF2B5EF4-FFF2-40B4-BE49-F238E27FC236}">
                <ns2:creationId id="{9507A0AA-FC7A-4E58-800E-1380E5D25C62}"/>
              </a:ext>
            </a:extLst>
          </p:cNvPr>
          <p:cNvSpPr>
            <a:spLocks noGrp="1"/>
          </p:cNvSpPr>
          <p:nvPr/>
        </p:nvSpPr>
        <p:spPr>
          <a:xfrm>
            <a:off x="7416800" y="49276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6" name="NumBg">
            <a:extLst>
              <a:ext uri="{FF2B5EF4-FFF2-40B4-BE49-F238E27FC236}">
                <ns2:creationId id="{0D08E262-52F4-48FA-BAB1-488D231886A6}"/>
              </a:ext>
            </a:extLst>
          </p:cNvPr>
          <p:cNvSpPr>
            <a:spLocks noGrp="1"/>
          </p:cNvSpPr>
          <p:nvPr/>
        </p:nvSpPr>
        <p:spPr>
          <a:xfrm>
            <a:off x="7620000" y="51562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7" name="Num">
            <a:extLst>
              <a:ext uri="{FF2B5EF4-FFF2-40B4-BE49-F238E27FC236}">
                <ns2:creationId id="{6117D8F4-1908-4BCD-996B-DD868AF0EDF8}"/>
              </a:ext>
            </a:extLst>
          </p:cNvPr>
          <p:cNvSpPr>
            <a:spLocks noGrp="1"/>
          </p:cNvSpPr>
          <p:nvPr/>
        </p:nvSpPr>
        <p:spPr>
          <a:xfrm>
            <a:off x="7620000" y="51562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4</a:t>
            </a:r>
          </a:p>
        </p:txBody>
      </p:sp>
      <p:sp>
        <p:nvSpPr>
          <p:cNvPr id="318" name="CardTitle">
            <a:extLst>
              <a:ext uri="{FF2B5EF4-FFF2-40B4-BE49-F238E27FC236}">
                <ns2:creationId id="{46EED06B-93A8-4C17-8464-2501589E0E28}"/>
              </a:ext>
            </a:extLst>
          </p:cNvPr>
          <p:cNvSpPr>
            <a:spLocks noGrp="1"/>
          </p:cNvSpPr>
          <p:nvPr/>
        </p:nvSpPr>
        <p:spPr>
          <a:xfrm>
            <a:off x="8178800" y="51816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진단 데이터 보조 근거</a:t>
            </a:r>
          </a:p>
        </p:txBody>
      </p:sp>
      <p:sp>
        <p:nvSpPr>
          <p:cNvPr id="319" name="CardBody">
            <a:extLst>
              <a:ext uri="{FF2B5EF4-FFF2-40B4-BE49-F238E27FC236}">
                <ns2:creationId id="{51A58154-6BC3-409A-A8BE-DA825532D455}"/>
              </a:ext>
            </a:extLst>
          </p:cNvPr>
          <p:cNvSpPr>
            <a:spLocks noGrp="1"/>
          </p:cNvSpPr>
          <p:nvPr/>
        </p:nvSpPr>
        <p:spPr>
          <a:xfrm>
            <a:off x="7670800" y="57150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진단 당시 team, 직무명, Category, 항목을 구조화된 보조 근거로 사용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예: DRAM공정 &gt; DPC, Etch공정, CLN, MLM</a:t>
            </a:r>
          </a:p>
        </p:txBody>
      </p:sp>
      <p:sp>
        <p:nvSpPr>
          <p:cNvPr id="320" name="StripBg">
            <a:extLst>
              <a:ext uri="{FF2B5EF4-FFF2-40B4-BE49-F238E27FC236}">
                <ns2:creationId id="{2D7C6931-60F6-4518-9B4A-F51FE5168951}"/>
              </a:ext>
            </a:extLst>
          </p:cNvPr>
          <p:cNvSpPr>
            <a:spLocks noGrp="1"/>
          </p:cNvSpPr>
          <p:nvPr/>
        </p:nvSpPr>
        <p:spPr>
          <a:xfrm>
            <a:off x="609600" y="7391400"/>
            <a:ext cx="134112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21" name="StripTagBg">
            <a:extLst>
              <a:ext uri="{FF2B5EF4-FFF2-40B4-BE49-F238E27FC236}">
                <ns2:creationId id="{302ACE06-10A7-45CE-AB6F-4D007C87BFAA}"/>
              </a:ext>
            </a:extLst>
          </p:cNvPr>
          <p:cNvSpPr>
            <a:spLocks noGrp="1"/>
          </p:cNvSpPr>
          <p:nvPr/>
        </p:nvSpPr>
        <p:spPr>
          <a:xfrm>
            <a:off x="812800" y="7493000"/>
            <a:ext cx="1168400" cy="254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22" name="StripTag">
            <a:extLst>
              <a:ext uri="{FF2B5EF4-FFF2-40B4-BE49-F238E27FC236}">
                <ns2:creationId id="{483EC55F-9990-4F35-B83B-43BEA96426F7}"/>
              </a:ext>
            </a:extLst>
          </p:cNvPr>
          <p:cNvSpPr>
            <a:spLocks noGrp="1"/>
          </p:cNvSpPr>
          <p:nvPr/>
        </p:nvSpPr>
        <p:spPr>
          <a:xfrm>
            <a:off x="812800" y="7493000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</a:rPr>
              <a:t>검수 분리</a:t>
            </a:r>
          </a:p>
        </p:txBody>
      </p:sp>
      <p:sp>
        <p:nvSpPr>
          <p:cNvPr id="323" name="StripText">
            <a:extLst>
              <a:ext uri="{FF2B5EF4-FFF2-40B4-BE49-F238E27FC236}">
                <ns2:creationId id="{EDEF691B-2FB8-4578-A386-3FAC30B68980}"/>
              </a:ext>
            </a:extLst>
          </p:cNvPr>
          <p:cNvSpPr>
            <a:spLocks noGrp="1"/>
          </p:cNvSpPr>
          <p:nvPr/>
        </p:nvSpPr>
        <p:spPr>
          <a:xfrm>
            <a:off x="2133600" y="7493000"/>
            <a:ext cx="11684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sz="1200" b="1">
                <a:solidFill>
                  <a:srgbClr val="0F172A"/>
                </a:solidFill>
              </a:rPr>
              <a:t>확실한 건 자동 분류하고, 근거가 부족하거나 충돌하는 건 </a:t>
            </a:r>
            <a:r>
              <a:rPr sz="1200" b="1">
                <a:solidFill>
                  <a:srgbClr val="B91C1C"/>
                </a:solidFill>
              </a:rPr>
              <a:t>needs_review=True</a:t>
            </a:r>
            <a:r>
              <a:rPr sz="1200" b="1">
                <a:solidFill>
                  <a:srgbClr val="0F172A"/>
                </a:solidFill>
              </a:rPr>
              <a:t>로 검수 대상 분리</a:t>
            </a:r>
          </a:p>
        </p:txBody>
      </p:sp>
      <p:sp>
        <p:nvSpPr>
          <p:cNvPr id="324" name="FL">
            <a:extLst>
              <a:ext uri="{FF2B5EF4-FFF2-40B4-BE49-F238E27FC236}">
                <ns2:creationId id="{517A7746-F716-4708-B6D4-6D1F4696F63D}"/>
              </a:ext>
            </a:extLst>
          </p:cNvPr>
          <p:cNvSpPr>
            <a:spLocks noGrp="1"/>
          </p:cNvSpPr>
          <p:nvPr/>
        </p:nvSpPr>
        <p:spPr>
          <a:xfrm>
            <a:off x="609600" y="79248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000">
                <a:solidFill>
                  <a:srgbClr val="94A3B8"/>
                </a:solidFill>
              </a:rPr>
              <a:t>LLM 판단 가이드 룰</a:t>
            </a:r>
          </a:p>
        </p:txBody>
      </p:sp>
      <p:sp>
        <p:nvSpPr>
          <p:cNvPr id="325" name="FR">
            <a:extLst>
              <a:ext uri="{FF2B5EF4-FFF2-40B4-BE49-F238E27FC236}">
                <ns2:creationId id="{AF696CDA-14F9-4C6A-8B4A-7CD900EE842D}"/>
              </a:ext>
            </a:extLst>
          </p:cNvPr>
          <p:cNvSpPr>
            <a:spLocks noGrp="1"/>
          </p:cNvSpPr>
          <p:nvPr/>
        </p:nvSpPr>
        <p:spPr>
          <a:xfrm>
            <a:off x="13208000" y="79248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sz="1000">
                <a:solidFill>
                  <a:srgbClr val="94A3B8"/>
                </a:solidFill>
              </a:rPr>
              <a:t>3/4</a:t>
            </a:r>
          </a:p>
        </p:txBody>
      </p:sp>
    </p:spTree>
    <p:extLst>
      <p:ext uri="{BB962C8B-B14F-4D97-AF65-F5344CB8AC3E}">
        <ns3:creationId val="1847166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97D62E75-F3B7-4786-8F30-B97C88E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778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05  기대 효과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633A3947-7B3B-48CE-9BF1-31C7A3E6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0F172A"/>
                </a:solidFill>
              </a:rPr>
              <a:t>도입 시 기대 효과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2FED4678-19C7-4057-87BD-7DD9B1DC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운영 부담을 줄이면서 분류 품질과 안정성을 동시에 끌어올립니다.</a:t>
            </a:r>
          </a:p>
        </p:txBody>
      </p:sp>
      <p:sp>
        <p:nvSpPr>
          <p:cNvPr id="103" name="Card0">
            <a:extLst xmlns:a="http://schemas.openxmlformats.org/drawingml/2006/main">
              <a:ext uri="{FF2B5EF4-FFF2-40B4-BE49-F238E27FC236}">
                <a16:creationId xmlns:a16="http://schemas.microsoft.com/office/drawing/2014/main" id="{5BDB1E62-5B34-488B-A96F-7E0D8BB0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Ico0">
            <a:extLst xmlns:a="http://schemas.openxmlformats.org/drawingml/2006/main">
              <a:ext uri="{FF2B5EF4-FFF2-40B4-BE49-F238E27FC236}">
                <a16:creationId xmlns:a16="http://schemas.microsoft.com/office/drawing/2014/main" id="{35D87AAB-C96A-419B-989D-83D841D3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D4ED8"/>
                </a:solidFill>
              </a:rPr>
              <a:t>⚡</a:t>
            </a:r>
          </a:p>
        </p:txBody>
      </p:sp>
      <p:sp>
        <p:nvSpPr>
          <p:cNvPr id="105" name="CardT0">
            <a:extLst xmlns:a="http://schemas.openxmlformats.org/drawingml/2006/main">
              <a:ext uri="{FF2B5EF4-FFF2-40B4-BE49-F238E27FC236}">
                <a16:creationId xmlns:a16="http://schemas.microsoft.com/office/drawing/2014/main" id="{F74BF2BD-160D-4588-9BBE-846EC641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업무 효율</a:t>
            </a:r>
          </a:p>
        </p:txBody>
      </p:sp>
      <p:sp>
        <p:nvSpPr>
          <p:cNvPr id="106" name="CardM0">
            <a:extLst xmlns:a="http://schemas.openxmlformats.org/drawingml/2006/main">
              <a:ext uri="{FF2B5EF4-FFF2-40B4-BE49-F238E27FC236}">
                <a16:creationId xmlns:a16="http://schemas.microsoft.com/office/drawing/2014/main" id="{8478E077-BD2A-46F6-A20C-E1D2D1FA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1D4ED8"/>
                </a:solidFill>
              </a:rPr>
              <a:t>수작업 분류 시간 절감</a:t>
            </a:r>
          </a:p>
        </p:txBody>
      </p:sp>
      <p:sp>
        <p:nvSpPr>
          <p:cNvPr id="107" name="Div0">
            <a:extLst xmlns:a="http://schemas.openxmlformats.org/drawingml/2006/main">
              <a:ext uri="{FF2B5EF4-FFF2-40B4-BE49-F238E27FC236}">
                <a16:creationId xmlns:a16="http://schemas.microsoft.com/office/drawing/2014/main" id="{117649B6-379A-4C42-B093-58961FAC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8" name="CardB0">
            <a:extLst xmlns:a="http://schemas.openxmlformats.org/drawingml/2006/main">
              <a:ext uri="{FF2B5EF4-FFF2-40B4-BE49-F238E27FC236}">
                <a16:creationId xmlns:a16="http://schemas.microsoft.com/office/drawing/2014/main" id="{D84325E8-E693-4F24-9BCD-ABE67B23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반복적인 1차 분류를 LLM이 자동 처리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검토자는 애매한 케이스에만 집중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신규 인입 데이터도 동일 기준으로 즉시 분류</a:t>
            </a:r>
          </a:p>
        </p:txBody>
      </p:sp>
      <p:sp>
        <p:nvSpPr>
          <p:cNvPr id="109" name="Card1">
            <a:extLst xmlns:a="http://schemas.openxmlformats.org/drawingml/2006/main">
              <a:ext uri="{FF2B5EF4-FFF2-40B4-BE49-F238E27FC236}">
                <a16:creationId xmlns:a16="http://schemas.microsoft.com/office/drawing/2014/main" id="{286435A0-7D4A-46FD-8018-2860E9F6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0" name="Ico1">
            <a:extLst xmlns:a="http://schemas.openxmlformats.org/drawingml/2006/main">
              <a:ext uri="{FF2B5EF4-FFF2-40B4-BE49-F238E27FC236}">
                <a16:creationId xmlns:a16="http://schemas.microsoft.com/office/drawing/2014/main" id="{F6C1F824-6FC0-4968-8A78-8ABB9A25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11" name="CardT1">
            <a:extLst xmlns:a="http://schemas.openxmlformats.org/drawingml/2006/main">
              <a:ext uri="{FF2B5EF4-FFF2-40B4-BE49-F238E27FC236}">
                <a16:creationId xmlns:a16="http://schemas.microsoft.com/office/drawing/2014/main" id="{FDCE7F23-59FE-4826-924C-9E3F495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분류 품질</a:t>
            </a:r>
          </a:p>
        </p:txBody>
      </p:sp>
      <p:sp>
        <p:nvSpPr>
          <p:cNvPr id="112" name="CardM1">
            <a:extLst xmlns:a="http://schemas.openxmlformats.org/drawingml/2006/main">
              <a:ext uri="{FF2B5EF4-FFF2-40B4-BE49-F238E27FC236}">
                <a16:creationId xmlns:a16="http://schemas.microsoft.com/office/drawing/2014/main" id="{EE635F92-764E-4D8F-9E37-5E6CE924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15803D"/>
                </a:solidFill>
              </a:rPr>
              <a:t>taxonomy 일관성 확보</a:t>
            </a:r>
          </a:p>
        </p:txBody>
      </p:sp>
      <p:sp>
        <p:nvSpPr>
          <p:cNvPr id="113" name="Div1">
            <a:extLst xmlns:a="http://schemas.openxmlformats.org/drawingml/2006/main">
              <a:ext uri="{FF2B5EF4-FFF2-40B4-BE49-F238E27FC236}">
                <a16:creationId xmlns:a16="http://schemas.microsoft.com/office/drawing/2014/main" id="{9BEDA78F-02AF-4C9E-A998-A5A48176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4" name="CardB1">
            <a:extLst xmlns:a="http://schemas.openxmlformats.org/drawingml/2006/main">
              <a:ext uri="{FF2B5EF4-FFF2-40B4-BE49-F238E27FC236}">
                <a16:creationId xmlns:a16="http://schemas.microsoft.com/office/drawing/2014/main" id="{7527E2E0-F459-45BC-ADD8-447A92F0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사람마다 다른 해석을 단일 기준으로 통일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유사 표현을 같은 직무로 일관되게 매핑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근거가 남아 사후 검증·튜닝 가능</a:t>
            </a:r>
          </a:p>
        </p:txBody>
      </p:sp>
      <p:sp>
        <p:nvSpPr>
          <p:cNvPr id="115" name="Card2">
            <a:extLst xmlns:a="http://schemas.openxmlformats.org/drawingml/2006/main">
              <a:ext uri="{FF2B5EF4-FFF2-40B4-BE49-F238E27FC236}">
                <a16:creationId xmlns:a16="http://schemas.microsoft.com/office/drawing/2014/main" id="{2BF9416B-282D-41FE-8B74-A7E5116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Ico2">
            <a:extLst xmlns:a="http://schemas.openxmlformats.org/drawingml/2006/main">
              <a:ext uri="{FF2B5EF4-FFF2-40B4-BE49-F238E27FC236}">
                <a16:creationId xmlns:a16="http://schemas.microsoft.com/office/drawing/2014/main" id="{AC2481E8-70EE-4D6A-8E63-F6CE93C6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D28D9"/>
                </a:solidFill>
              </a:rPr>
              <a:t>🛡</a:t>
            </a:r>
          </a:p>
        </p:txBody>
      </p:sp>
      <p:sp>
        <p:nvSpPr>
          <p:cNvPr id="117" name="CardT2">
            <a:extLst xmlns:a="http://schemas.openxmlformats.org/drawingml/2006/main">
              <a:ext uri="{FF2B5EF4-FFF2-40B4-BE49-F238E27FC236}">
                <a16:creationId xmlns:a16="http://schemas.microsoft.com/office/drawing/2014/main" id="{79DF096F-4677-4668-84B2-558D7AE6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운영 안정성</a:t>
            </a:r>
          </a:p>
        </p:txBody>
      </p:sp>
      <p:sp>
        <p:nvSpPr>
          <p:cNvPr id="118" name="CardM2">
            <a:extLst xmlns:a="http://schemas.openxmlformats.org/drawingml/2006/main">
              <a:ext uri="{FF2B5EF4-FFF2-40B4-BE49-F238E27FC236}">
                <a16:creationId xmlns:a16="http://schemas.microsoft.com/office/drawing/2014/main" id="{55643A42-5C67-4426-9FDC-F6801CC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6D28D9"/>
                </a:solidFill>
              </a:rPr>
              <a:t>확실한 것만 자동 확정</a:t>
            </a:r>
          </a:p>
        </p:txBody>
      </p:sp>
      <p:sp>
        <p:nvSpPr>
          <p:cNvPr id="119" name="Div2">
            <a:extLst xmlns:a="http://schemas.openxmlformats.org/drawingml/2006/main">
              <a:ext uri="{FF2B5EF4-FFF2-40B4-BE49-F238E27FC236}">
                <a16:creationId xmlns:a16="http://schemas.microsoft.com/office/drawing/2014/main" id="{7FBA06D4-2A2F-47A7-B0D3-75DC792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0" name="CardB2">
            <a:extLst xmlns:a="http://schemas.openxmlformats.org/drawingml/2006/main">
              <a:ext uri="{FF2B5EF4-FFF2-40B4-BE49-F238E27FC236}">
                <a16:creationId xmlns:a16="http://schemas.microsoft.com/office/drawing/2014/main" id="{0096F92F-C1CA-4760-BE25-7D72783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임의 직무명 생성·오분류 위험 차단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신뢰도 낮은 결과는 검수 큐로 자동 분리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기준 변경 시 일괄 재분류로 빠른 대응</a:t>
            </a:r>
          </a:p>
        </p:txBody>
      </p:sp>
      <p:sp>
        <p:nvSpPr>
          <p:cNvPr id="121" name="MsgBar">
            <a:extLst xmlns:a="http://schemas.openxmlformats.org/drawingml/2006/main">
              <a:ext uri="{FF2B5EF4-FFF2-40B4-BE49-F238E27FC236}">
                <a16:creationId xmlns:a16="http://schemas.microsoft.com/office/drawing/2014/main" id="{54E4A98E-1D11-47E7-806A-B03D51BC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29400"/>
            <a:ext cx="134112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2" name="MsgChip">
            <a:extLst xmlns:a="http://schemas.openxmlformats.org/drawingml/2006/main">
              <a:ext uri="{FF2B5EF4-FFF2-40B4-BE49-F238E27FC236}">
                <a16:creationId xmlns:a16="http://schemas.microsoft.com/office/drawing/2014/main" id="{DF2762C3-58DE-4AC5-9426-8E36625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08800"/>
            <a:ext cx="114300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123" name="MsgText">
            <a:extLst xmlns:a="http://schemas.openxmlformats.org/drawingml/2006/main">
              <a:ext uri="{FF2B5EF4-FFF2-40B4-BE49-F238E27FC236}">
                <a16:creationId xmlns:a16="http://schemas.microsoft.com/office/drawing/2014/main" id="{2A54E757-5F8E-411A-A2B1-BE5F6BE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69088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700" b="1">
                <a:solidFill>
                  <a:srgbClr val="FFFFFF"/>
                </a:solidFill>
              </a:rPr>
              <a:t>자동 확정은 확실한 건만, 애매한 건은 검수 대상으로 분리합니다.</a:t>
            </a:r>
          </a:p>
        </p:txBody>
      </p:sp>
      <p:sp>
        <p:nvSpPr>
          <p:cNvPr id="124" name="FL">
            <a:extLst xmlns:a="http://schemas.openxmlformats.org/drawingml/2006/main">
              <a:ext uri="{FF2B5EF4-FFF2-40B4-BE49-F238E27FC236}">
                <a16:creationId xmlns:a16="http://schemas.microsoft.com/office/drawing/2014/main" id="{88A4C1F7-919A-4451-BDFD-5B416D72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기대 효과</a:t>
            </a:r>
          </a:p>
        </p:txBody>
      </p:sp>
      <p:sp>
        <p:nvSpPr>
          <p:cNvPr id="125" name="FR">
            <a:extLst xmlns:a="http://schemas.openxmlformats.org/drawingml/2006/main">
              <a:ext uri="{FF2B5EF4-FFF2-40B4-BE49-F238E27FC236}">
                <a16:creationId xmlns:a16="http://schemas.microsoft.com/office/drawing/2014/main" id="{A238A43E-CFB1-4747-A654-80DF8FF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486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32382876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E2E8F0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2026-05-19T00:05:32.4590000Z</dcterms:created>
  <dcterms:modified xsi:type="dcterms:W3CDTF">2026-05-19T00:05:32.4590000Z</dcterms:modified>
</coreProperties>
</file>